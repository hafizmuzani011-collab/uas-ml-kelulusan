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2761"/>
        </a:solidFill>
        <a:effectLst/>
      </p:bgPr>
    </p:bg>
    <p:spTree>
      <p:nvGrpSpPr>
        <p:cNvPr id="1" name=""/>
        <p:cNvGrpSpPr/>
        <p:nvPr/>
      </p:nvGrpSpPr>
      <p:grpSpPr/>
      <p:sp>
        <p:nvSpPr>
          <p:cNvPr id="2" name="TextBox 1"/>
          <p:cNvSpPr txBox="1"/>
          <p:nvPr/>
        </p:nvSpPr>
        <p:spPr>
          <a:xfrm>
            <a:off x="731520" y="1645920"/>
            <a:ext cx="10698480" cy="2011680"/>
          </a:xfrm>
          <a:prstGeom prst="rect">
            <a:avLst/>
          </a:prstGeom>
          <a:noFill/>
        </p:spPr>
        <p:txBody>
          <a:bodyPr wrap="square">
            <a:spAutoFit/>
          </a:bodyPr>
          <a:lstStyle/>
          <a:p>
            <a:pPr>
              <a:defRPr sz="4400" b="1">
                <a:solidFill>
                  <a:srgbClr val="FFFFFF"/>
                </a:solidFill>
              </a:defRPr>
            </a:pPr>
            <a:r>
              <a:t>PREDIKSI KELULUSAN MAHASISWA</a:t>
            </a:r>
          </a:p>
          <a:p>
            <a:pPr>
              <a:spcBef>
                <a:spcPts val="1000"/>
              </a:spcBef>
              <a:defRPr sz="2200">
                <a:solidFill>
                  <a:srgbClr val="CADCFC"/>
                </a:solidFill>
              </a:defRPr>
            </a:pPr>
            <a:r>
              <a:t>Pendekatan Machine Learning dan Implementasi Outcome-Based Education (OBE)</a:t>
            </a:r>
          </a:p>
        </p:txBody>
      </p:sp>
      <p:sp>
        <p:nvSpPr>
          <p:cNvPr id="3" name="TextBox 2"/>
          <p:cNvSpPr txBox="1"/>
          <p:nvPr/>
        </p:nvSpPr>
        <p:spPr>
          <a:xfrm>
            <a:off x="731520" y="3931920"/>
            <a:ext cx="10698480" cy="1371600"/>
          </a:xfrm>
          <a:prstGeom prst="rect">
            <a:avLst/>
          </a:prstGeom>
          <a:noFill/>
        </p:spPr>
        <p:txBody>
          <a:bodyPr wrap="none">
            <a:spAutoFit/>
          </a:bodyPr>
          <a:lstStyle/>
          <a:p>
            <a:pPr>
              <a:spcBef>
                <a:spcPts val="500"/>
              </a:spcBef>
              <a:defRPr sz="1600">
                <a:solidFill>
                  <a:srgbClr val="CADCFC"/>
                </a:solidFill>
              </a:defRPr>
            </a:pPr>
            <a:r>
              <a:t>Oleh: Na'ilah Azfa Zarqarida (NIM: A11.2024.15549)</a:t>
            </a:r>
            <a:br/>
            <a:r>
              <a:t>Kelompok: A11.4401 &amp; A11.4410</a:t>
            </a:r>
            <a:br/>
            <a:r>
              <a:t>Universitas Dian Nuswantoro — Ujian Akhir Semester Pembelajaran Mesin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F2761"/>
        </a:solidFill>
        <a:effectLst/>
      </p:bgPr>
    </p:bg>
    <p:spTree>
      <p:nvGrpSpPr>
        <p:cNvPr id="1" name=""/>
        <p:cNvGrpSpPr/>
        <p:nvPr/>
      </p:nvGrpSpPr>
      <p:grpSpPr/>
      <p:sp>
        <p:nvSpPr>
          <p:cNvPr id="2" name="TextBox 1"/>
          <p:cNvSpPr txBox="1"/>
          <p:nvPr/>
        </p:nvSpPr>
        <p:spPr>
          <a:xfrm>
            <a:off x="731520" y="365760"/>
            <a:ext cx="10698480" cy="731520"/>
          </a:xfrm>
          <a:prstGeom prst="rect">
            <a:avLst/>
          </a:prstGeom>
          <a:noFill/>
        </p:spPr>
        <p:txBody>
          <a:bodyPr wrap="square">
            <a:spAutoFit/>
          </a:bodyPr>
          <a:lstStyle/>
          <a:p>
            <a:pPr>
              <a:defRPr sz="3400" b="1">
                <a:solidFill>
                  <a:srgbClr val="FFFFFF"/>
                </a:solidFill>
              </a:defRPr>
            </a:pPr>
            <a:r>
              <a:t>Latar Belakang &amp; Urgensi Penelitian</a:t>
            </a:r>
          </a:p>
        </p:txBody>
      </p:sp>
      <p:sp>
        <p:nvSpPr>
          <p:cNvPr id="3" name="TextBox 2"/>
          <p:cNvSpPr txBox="1"/>
          <p:nvPr/>
        </p:nvSpPr>
        <p:spPr>
          <a:xfrm>
            <a:off x="731520" y="1371600"/>
            <a:ext cx="10698480" cy="4572000"/>
          </a:xfrm>
          <a:prstGeom prst="rect">
            <a:avLst/>
          </a:prstGeom>
          <a:noFill/>
        </p:spPr>
        <p:txBody>
          <a:bodyPr wrap="square">
            <a:spAutoFit/>
          </a:bodyPr>
          <a:lstStyle/>
          <a:p/>
          <a:p>
            <a:pPr>
              <a:spcBef>
                <a:spcPts val="800"/>
              </a:spcBef>
              <a:spcAft>
                <a:spcPts val="200"/>
              </a:spcAft>
              <a:defRPr sz="1800" b="1">
                <a:solidFill>
                  <a:srgbClr val="FFFFFF"/>
                </a:solidFill>
              </a:defRPr>
            </a:pPr>
            <a:r>
              <a:t>Krisis Angka Putus Kuliah (Dropout) di Perguruan Tinggi</a:t>
            </a:r>
          </a:p>
          <a:p>
            <a:pPr lvl="1">
              <a:spcBef>
                <a:spcPts val="0"/>
              </a:spcBef>
              <a:spcAft>
                <a:spcPts val="1000"/>
              </a:spcAft>
              <a:defRPr sz="1400" b="0">
                <a:solidFill>
                  <a:srgbClr val="CADCFC"/>
                </a:solidFill>
              </a:defRPr>
            </a:pPr>
            <a:r>
              <a:t>Berdasarkan analisis awal pada dataset akademik, tercatat tingkat putus kuliah mencapai 39% dari total 4.424 mahasiswa. Tingginya angka ini secara langsung merusak Indikator Kinerja Utama (IKU) institusi pendidikan, menyebabkan inefisiensi alokasi anggaran, dan memberikan dampak sosio-ekonomi negatif pada masa depan mahasiswa.</a:t>
            </a:r>
          </a:p>
          <a:p>
            <a:pPr>
              <a:spcBef>
                <a:spcPts val="800"/>
              </a:spcBef>
              <a:spcAft>
                <a:spcPts val="200"/>
              </a:spcAft>
              <a:defRPr sz="1800" b="1">
                <a:solidFill>
                  <a:srgbClr val="FFFFFF"/>
                </a:solidFill>
              </a:defRPr>
            </a:pPr>
            <a:r>
              <a:t>Pengembangan Sistem Deteksi Dini (Early Warning System)</a:t>
            </a:r>
          </a:p>
          <a:p>
            <a:pPr lvl="1">
              <a:spcBef>
                <a:spcPts val="0"/>
              </a:spcBef>
              <a:spcAft>
                <a:spcPts val="1000"/>
              </a:spcAft>
              <a:defRPr sz="1400" b="0">
                <a:solidFill>
                  <a:srgbClr val="CADCFC"/>
                </a:solidFill>
              </a:defRPr>
            </a:pPr>
            <a:r>
              <a:t>Penelitian ini difokuskan untuk membangun sebuah model klasifikasi cerdas berbasis Machine Learning. Tujuannya adalah mendeteksi secara proaktif mahasiswa yang memiliki probabilitas tinggi untuk dropout sejak semester-semester awal, sehingga pihak akademik dapat melakukan intervensi pencegahan.</a:t>
            </a:r>
          </a:p>
          <a:p>
            <a:pPr>
              <a:spcBef>
                <a:spcPts val="800"/>
              </a:spcBef>
              <a:spcAft>
                <a:spcPts val="200"/>
              </a:spcAft>
              <a:defRPr sz="1800" b="1">
                <a:solidFill>
                  <a:srgbClr val="FFFFFF"/>
                </a:solidFill>
              </a:defRPr>
            </a:pPr>
            <a:r>
              <a:t>Keselarasan dengan Outcome-Based Education (OBE)</a:t>
            </a:r>
          </a:p>
          <a:p>
            <a:pPr lvl="1">
              <a:spcBef>
                <a:spcPts val="0"/>
              </a:spcBef>
              <a:spcAft>
                <a:spcPts val="1000"/>
              </a:spcAft>
              <a:defRPr sz="1400" b="0">
                <a:solidFill>
                  <a:srgbClr val="CADCFC"/>
                </a:solidFill>
              </a:defRPr>
            </a:pPr>
            <a:r>
              <a:t>Proyek ini disusun untuk mendemonstrasikan pencapaian CPL-8 (Kemampuan analitik dan pemodelan Machine Learning tingkat lanjut) serta CPL-10 (Tanggung jawab etis dalam perancangan dan implementasi kecerdasan buatan).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698480" cy="731520"/>
          </a:xfrm>
          <a:prstGeom prst="rect">
            <a:avLst/>
          </a:prstGeom>
          <a:noFill/>
        </p:spPr>
        <p:txBody>
          <a:bodyPr wrap="square">
            <a:spAutoFit/>
          </a:bodyPr>
          <a:lstStyle/>
          <a:p>
            <a:pPr>
              <a:defRPr sz="3400" b="1">
                <a:solidFill>
                  <a:srgbClr val="2C3E50"/>
                </a:solidFill>
              </a:defRPr>
            </a:pPr>
            <a:r>
              <a:t>Dataset dan Pemrosesan Data (Preprocessing)</a:t>
            </a:r>
          </a:p>
        </p:txBody>
      </p:sp>
      <p:sp>
        <p:nvSpPr>
          <p:cNvPr id="3" name="TextBox 2"/>
          <p:cNvSpPr txBox="1"/>
          <p:nvPr/>
        </p:nvSpPr>
        <p:spPr>
          <a:xfrm>
            <a:off x="731520" y="1280160"/>
            <a:ext cx="10698480" cy="5029200"/>
          </a:xfrm>
          <a:prstGeom prst="rect">
            <a:avLst/>
          </a:prstGeom>
          <a:noFill/>
        </p:spPr>
        <p:txBody>
          <a:bodyPr wrap="square">
            <a:spAutoFit/>
          </a:bodyPr>
          <a:lstStyle/>
          <a:p/>
          <a:p>
            <a:pPr>
              <a:spcBef>
                <a:spcPts val="600"/>
              </a:spcBef>
              <a:spcAft>
                <a:spcPts val="200"/>
              </a:spcAft>
              <a:defRPr sz="1600" b="1">
                <a:solidFill>
                  <a:srgbClr val="2C3E50"/>
                </a:solidFill>
              </a:defRPr>
            </a:pPr>
            <a:r>
              <a:t>Sumber Data dan Pra-Pemrosesan Target</a:t>
            </a:r>
          </a:p>
          <a:p>
            <a:pPr lvl="1">
              <a:spcBef>
                <a:spcPts val="0"/>
              </a:spcBef>
              <a:spcAft>
                <a:spcPts val="800"/>
              </a:spcAft>
              <a:defRPr sz="1300" b="0">
                <a:solidFill>
                  <a:srgbClr val="555555"/>
                </a:solidFill>
              </a:defRPr>
            </a:pPr>
            <a:r>
              <a:t>Dataset bersumber dari UCI Machine Learning Repository ('Predict Students Dropout and Academic Success'). Observasi dengan status 'Enrolled' disaring keluar untuk memformulasikan masalah ini sebagai klasifikasi biner, menghasilkan 3.630 baris data valid (Graduate vs Dropout).</a:t>
            </a:r>
          </a:p>
          <a:p>
            <a:pPr>
              <a:spcBef>
                <a:spcPts val="600"/>
              </a:spcBef>
              <a:spcAft>
                <a:spcPts val="200"/>
              </a:spcAft>
              <a:defRPr sz="1600" b="1">
                <a:solidFill>
                  <a:srgbClr val="2C3E50"/>
                </a:solidFill>
              </a:defRPr>
            </a:pPr>
            <a:r>
              <a:t>Seleksi Fitur Terarah (Mutual Information)</a:t>
            </a:r>
          </a:p>
          <a:p>
            <a:pPr lvl="1">
              <a:spcBef>
                <a:spcPts val="0"/>
              </a:spcBef>
              <a:spcAft>
                <a:spcPts val="800"/>
              </a:spcAft>
              <a:defRPr sz="1300" b="0">
                <a:solidFill>
                  <a:srgbClr val="555555"/>
                </a:solidFill>
              </a:defRPr>
            </a:pPr>
            <a:r>
              <a:t>Untuk menghindari curse of dimensionality, kami mengekstraksi 10 fitur paling prediktif menggunakan pengukuran Mutual Information. Fitur terpilih meliputi riwayat akademik semester 1 dan 2, status pembayaran UKT, serta riwayat beasiswa.</a:t>
            </a:r>
          </a:p>
          <a:p>
            <a:pPr>
              <a:spcBef>
                <a:spcPts val="600"/>
              </a:spcBef>
              <a:spcAft>
                <a:spcPts val="200"/>
              </a:spcAft>
              <a:defRPr sz="1600" b="1">
                <a:solidFill>
                  <a:srgbClr val="2C3E50"/>
                </a:solidFill>
              </a:defRPr>
            </a:pPr>
            <a:r>
              <a:t>Stratified Splitting dan Normalisasi</a:t>
            </a:r>
          </a:p>
          <a:p>
            <a:pPr lvl="1">
              <a:spcBef>
                <a:spcPts val="0"/>
              </a:spcBef>
              <a:spcAft>
                <a:spcPts val="800"/>
              </a:spcAft>
              <a:defRPr sz="1300" b="0">
                <a:solidFill>
                  <a:srgbClr val="555555"/>
                </a:solidFill>
              </a:defRPr>
            </a:pPr>
            <a:r>
              <a:t>Data dibagi menjadi set pelatihan (80%) dan pengujian (20%) secara stratified untuk menjaga proporsi kelas. Seluruh fitur numerik kemudian distandardisasi menggunakan StandardScaler agar model berbasis jarak (KNN, SVM) tidak mengalami bias dimensi.</a:t>
            </a:r>
          </a:p>
          <a:p>
            <a:pPr>
              <a:spcBef>
                <a:spcPts val="600"/>
              </a:spcBef>
              <a:spcAft>
                <a:spcPts val="200"/>
              </a:spcAft>
              <a:defRPr sz="1600" b="1">
                <a:solidFill>
                  <a:srgbClr val="2C3E50"/>
                </a:solidFill>
              </a:defRPr>
            </a:pPr>
            <a:r>
              <a:t>Penanganan Ketidakseimbangan Kelas (SMOTE)</a:t>
            </a:r>
          </a:p>
          <a:p>
            <a:pPr lvl="1">
              <a:spcBef>
                <a:spcPts val="0"/>
              </a:spcBef>
              <a:spcAft>
                <a:spcPts val="800"/>
              </a:spcAft>
              <a:defRPr sz="1300" b="0">
                <a:solidFill>
                  <a:srgbClr val="555555"/>
                </a:solidFill>
              </a:defRPr>
            </a:pPr>
            <a:r>
              <a:t>Synthetic Minority Over-sampling Technique (SMOTE) diterapkan secara eksklusif pada data latih untuk menyeimbangkan kelas minoritas tanpa menimbulkan fenomena data leakage pada tahap pengujian.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F2761"/>
        </a:solidFill>
        <a:effectLst/>
      </p:bgPr>
    </p:bg>
    <p:spTree>
      <p:nvGrpSpPr>
        <p:cNvPr id="1" name=""/>
        <p:cNvGrpSpPr/>
        <p:nvPr/>
      </p:nvGrpSpPr>
      <p:grpSpPr/>
      <p:sp>
        <p:nvSpPr>
          <p:cNvPr id="2" name="TextBox 1"/>
          <p:cNvSpPr txBox="1"/>
          <p:nvPr/>
        </p:nvSpPr>
        <p:spPr>
          <a:xfrm>
            <a:off x="731520" y="365760"/>
            <a:ext cx="10698480" cy="731520"/>
          </a:xfrm>
          <a:prstGeom prst="rect">
            <a:avLst/>
          </a:prstGeom>
          <a:noFill/>
        </p:spPr>
        <p:txBody>
          <a:bodyPr wrap="square">
            <a:spAutoFit/>
          </a:bodyPr>
          <a:lstStyle/>
          <a:p>
            <a:pPr>
              <a:defRPr sz="3400" b="1">
                <a:solidFill>
                  <a:srgbClr val="FFFFFF"/>
                </a:solidFill>
              </a:defRPr>
            </a:pPr>
            <a:r>
              <a:t>Desain Eksperimen dan Strategi Optimasi</a:t>
            </a:r>
          </a:p>
        </p:txBody>
      </p:sp>
      <p:sp>
        <p:nvSpPr>
          <p:cNvPr id="3" name="TextBox 2"/>
          <p:cNvSpPr txBox="1"/>
          <p:nvPr/>
        </p:nvSpPr>
        <p:spPr>
          <a:xfrm>
            <a:off x="731520" y="1371600"/>
            <a:ext cx="10698480" cy="4572000"/>
          </a:xfrm>
          <a:prstGeom prst="rect">
            <a:avLst/>
          </a:prstGeom>
          <a:noFill/>
        </p:spPr>
        <p:txBody>
          <a:bodyPr wrap="square">
            <a:spAutoFit/>
          </a:bodyPr>
          <a:lstStyle/>
          <a:p/>
          <a:p>
            <a:pPr>
              <a:spcBef>
                <a:spcPts val="800"/>
              </a:spcBef>
              <a:spcAft>
                <a:spcPts val="200"/>
              </a:spcAft>
              <a:defRPr sz="1800" b="1">
                <a:solidFill>
                  <a:srgbClr val="FFFFFF"/>
                </a:solidFill>
              </a:defRPr>
            </a:pPr>
            <a:r>
              <a:t>Algoritma Klasifikasi Baseline</a:t>
            </a:r>
          </a:p>
          <a:p>
            <a:pPr lvl="1">
              <a:spcBef>
                <a:spcPts val="0"/>
              </a:spcBef>
              <a:spcAft>
                <a:spcPts val="1000"/>
              </a:spcAft>
              <a:defRPr sz="1400" b="0">
                <a:solidFill>
                  <a:srgbClr val="CADCFC"/>
                </a:solidFill>
              </a:defRPr>
            </a:pPr>
            <a:r>
              <a:t>Penelitian ini membandingkan kinerja dari tiga algoritma fundamental: K-Nearest Neighbors (KNN), Naive Bayes (GaussianNB), dan Support Vector Machine (SVM). Setiap model dikonfigurasi dengan parameter awal standar untuk mendapatkan garis ukur performa.</a:t>
            </a:r>
          </a:p>
          <a:p>
            <a:pPr>
              <a:spcBef>
                <a:spcPts val="800"/>
              </a:spcBef>
              <a:spcAft>
                <a:spcPts val="200"/>
              </a:spcAft>
              <a:defRPr sz="1800" b="1">
                <a:solidFill>
                  <a:srgbClr val="FFFFFF"/>
                </a:solidFill>
              </a:defRPr>
            </a:pPr>
            <a:r>
              <a:t>Implementasi Empat Strategi Optimasi Utama</a:t>
            </a:r>
          </a:p>
          <a:p>
            <a:pPr lvl="1">
              <a:spcBef>
                <a:spcPts val="0"/>
              </a:spcBef>
              <a:spcAft>
                <a:spcPts val="1000"/>
              </a:spcAft>
              <a:defRPr sz="1400" b="0">
                <a:solidFill>
                  <a:srgbClr val="CADCFC"/>
                </a:solidFill>
              </a:defRPr>
            </a:pPr>
            <a:r>
              <a:t>1. Penyetelan Hyperparameter (Hyperparameter Tuning): Menggunakan GridSearchCV untuk menguji berbagai kombinasi parameter secara ekstensif.</a:t>
            </a:r>
            <a:br/>
            <a:r>
              <a:t>2. Validasi Silang (Cross-Validation): Menerapkan 5-Fold Stratified CV guna mencegah overfitting dan memastikan keandalan metrik.</a:t>
            </a:r>
            <a:br/>
            <a:r>
              <a:t>3. Seleksi Fitur Kuantitatif: Mereduksi dimensi data berbasis signifikansi statistik.</a:t>
            </a:r>
            <a:br/>
            <a:r>
              <a:t>4. Balancing Dataset: Modifikasi distribusi data kelas minoritas secara sintetis.</a:t>
            </a:r>
          </a:p>
          <a:p>
            <a:pPr>
              <a:spcBef>
                <a:spcPts val="800"/>
              </a:spcBef>
              <a:spcAft>
                <a:spcPts val="200"/>
              </a:spcAft>
              <a:defRPr sz="1800" b="1">
                <a:solidFill>
                  <a:srgbClr val="FFFFFF"/>
                </a:solidFill>
              </a:defRPr>
            </a:pPr>
            <a:r>
              <a:t>Pemilihan Metrik Evaluasi Kritis</a:t>
            </a:r>
          </a:p>
          <a:p>
            <a:pPr lvl="1">
              <a:spcBef>
                <a:spcPts val="0"/>
              </a:spcBef>
              <a:spcAft>
                <a:spcPts val="1000"/>
              </a:spcAft>
              <a:defRPr sz="1400" b="0">
                <a:solidFill>
                  <a:srgbClr val="CADCFC"/>
                </a:solidFill>
              </a:defRPr>
            </a:pPr>
            <a:r>
              <a:t>Mengingat distribusi data yang tidak seimbang, penilaian model ditekankan pada metrik F1-Macro dan Balanced Accuracy, alih-alih Akurasi konvensional, untuk memastikan evaluasi yang adil terhadap sensitivitas pendeteksian mahasiswa putus kuliah.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698480" cy="731520"/>
          </a:xfrm>
          <a:prstGeom prst="rect">
            <a:avLst/>
          </a:prstGeom>
          <a:noFill/>
        </p:spPr>
        <p:txBody>
          <a:bodyPr wrap="square">
            <a:spAutoFit/>
          </a:bodyPr>
          <a:lstStyle/>
          <a:p>
            <a:pPr>
              <a:defRPr sz="3400" b="1">
                <a:solidFill>
                  <a:srgbClr val="2C3E50"/>
                </a:solidFill>
              </a:defRPr>
            </a:pPr>
            <a:r>
              <a:t>Hasil Eksperimen Komparatif</a:t>
            </a:r>
          </a:p>
        </p:txBody>
      </p:sp>
      <p:graphicFrame>
        <p:nvGraphicFramePr>
          <p:cNvPr id="3" name="Table 2"/>
          <p:cNvGraphicFramePr>
            <a:graphicFrameLocks noGrp="1"/>
          </p:cNvGraphicFramePr>
          <p:nvPr/>
        </p:nvGraphicFramePr>
        <p:xfrm>
          <a:off x="731520" y="1371600"/>
          <a:ext cx="5303520" cy="3474720"/>
        </p:xfrm>
        <a:graphic>
          <a:graphicData uri="http://schemas.openxmlformats.org/drawingml/2006/table">
            <a:tbl>
              <a:tblPr firstRow="1" bandRow="1">
                <a:tableStyleId>{5C22544A-7EE6-4342-B048-85BDC9FD1C3A}</a:tableStyleId>
              </a:tblPr>
              <a:tblGrid>
                <a:gridCol w="2926080"/>
                <a:gridCol w="1188720"/>
                <a:gridCol w="1188720"/>
              </a:tblGrid>
              <a:tr h="496388">
                <a:tc>
                  <a:txBody>
                    <a:bodyPr/>
                    <a:lstStyle/>
                    <a:p>
                      <a:pPr algn="l">
                        <a:defRPr sz="1200" b="1">
                          <a:solidFill>
                            <a:srgbClr val="FFFFFF"/>
                          </a:solidFill>
                        </a:defRPr>
                      </a:pPr>
                      <a:r>
                        <a:t>Model Klasifikasi</a:t>
                      </a:r>
                    </a:p>
                  </a:txBody>
                  <a:tcPr>
                    <a:solidFill>
                      <a:srgbClr val="028090"/>
                    </a:solidFill>
                  </a:tcPr>
                </a:tc>
                <a:tc>
                  <a:txBody>
                    <a:bodyPr/>
                    <a:lstStyle/>
                    <a:p>
                      <a:pPr algn="ctr">
                        <a:defRPr sz="1200" b="1">
                          <a:solidFill>
                            <a:srgbClr val="FFFFFF"/>
                          </a:solidFill>
                        </a:defRPr>
                      </a:pPr>
                      <a:r>
                        <a:t>F1-Macro</a:t>
                      </a:r>
                    </a:p>
                  </a:txBody>
                  <a:tcPr>
                    <a:solidFill>
                      <a:srgbClr val="028090"/>
                    </a:solidFill>
                  </a:tcPr>
                </a:tc>
                <a:tc>
                  <a:txBody>
                    <a:bodyPr/>
                    <a:lstStyle/>
                    <a:p>
                      <a:pPr algn="ctr">
                        <a:defRPr sz="1200" b="1">
                          <a:solidFill>
                            <a:srgbClr val="FFFFFF"/>
                          </a:solidFill>
                        </a:defRPr>
                      </a:pPr>
                      <a:r>
                        <a:t>Accuracy</a:t>
                      </a:r>
                    </a:p>
                  </a:txBody>
                  <a:tcPr>
                    <a:solidFill>
                      <a:srgbClr val="028090"/>
                    </a:solidFill>
                  </a:tcPr>
                </a:tc>
              </a:tr>
              <a:tr h="496388">
                <a:tc>
                  <a:txBody>
                    <a:bodyPr/>
                    <a:lstStyle/>
                    <a:p>
                      <a:pPr algn="l">
                        <a:defRPr sz="1200"/>
                      </a:pPr>
                      <a:r>
                        <a:t>K-Nearest Neighbors (Baseline)</a:t>
                      </a:r>
                    </a:p>
                  </a:txBody>
                  <a:tcPr/>
                </a:tc>
                <a:tc>
                  <a:txBody>
                    <a:bodyPr/>
                    <a:lstStyle/>
                    <a:p>
                      <a:pPr algn="ctr">
                        <a:defRPr sz="1200"/>
                      </a:pPr>
                      <a:r>
                        <a:t>0.869</a:t>
                      </a:r>
                    </a:p>
                  </a:txBody>
                  <a:tcPr/>
                </a:tc>
                <a:tc>
                  <a:txBody>
                    <a:bodyPr/>
                    <a:lstStyle/>
                    <a:p>
                      <a:pPr algn="ctr">
                        <a:defRPr sz="1200"/>
                      </a:pPr>
                      <a:r>
                        <a:t>0.879</a:t>
                      </a:r>
                    </a:p>
                  </a:txBody>
                  <a:tcPr/>
                </a:tc>
              </a:tr>
              <a:tr h="496388">
                <a:tc>
                  <a:txBody>
                    <a:bodyPr/>
                    <a:lstStyle/>
                    <a:p>
                      <a:pPr algn="l">
                        <a:defRPr sz="1200"/>
                      </a:pPr>
                      <a:r>
                        <a:t>Naive Bayes (Baseline)</a:t>
                      </a:r>
                    </a:p>
                  </a:txBody>
                  <a:tcPr>
                    <a:solidFill>
                      <a:srgbClr val="F9F9F9"/>
                    </a:solidFill>
                  </a:tcPr>
                </a:tc>
                <a:tc>
                  <a:txBody>
                    <a:bodyPr/>
                    <a:lstStyle/>
                    <a:p>
                      <a:pPr algn="ctr">
                        <a:defRPr sz="1200"/>
                      </a:pPr>
                      <a:r>
                        <a:t>0.829</a:t>
                      </a:r>
                    </a:p>
                  </a:txBody>
                  <a:tcPr>
                    <a:solidFill>
                      <a:srgbClr val="F9F9F9"/>
                    </a:solidFill>
                  </a:tcPr>
                </a:tc>
                <a:tc>
                  <a:txBody>
                    <a:bodyPr/>
                    <a:lstStyle/>
                    <a:p>
                      <a:pPr algn="ctr">
                        <a:defRPr sz="1200"/>
                      </a:pPr>
                      <a:r>
                        <a:t>0.844</a:t>
                      </a:r>
                    </a:p>
                  </a:txBody>
                  <a:tcPr>
                    <a:solidFill>
                      <a:srgbClr val="F9F9F9"/>
                    </a:solidFill>
                  </a:tcPr>
                </a:tc>
              </a:tr>
              <a:tr h="496388">
                <a:tc>
                  <a:txBody>
                    <a:bodyPr/>
                    <a:lstStyle/>
                    <a:p>
                      <a:pPr algn="l">
                        <a:defRPr sz="1200" b="1"/>
                      </a:pPr>
                      <a:r>
                        <a:t>Support Vector Machine (Baseline)</a:t>
                      </a:r>
                    </a:p>
                  </a:txBody>
                  <a:tcPr>
                    <a:solidFill>
                      <a:srgbClr val="D5F5E3"/>
                    </a:solidFill>
                  </a:tcPr>
                </a:tc>
                <a:tc>
                  <a:txBody>
                    <a:bodyPr/>
                    <a:lstStyle/>
                    <a:p>
                      <a:pPr algn="ctr">
                        <a:defRPr sz="1200" b="1"/>
                      </a:pPr>
                      <a:r>
                        <a:t>0.887</a:t>
                      </a:r>
                    </a:p>
                  </a:txBody>
                  <a:tcPr>
                    <a:solidFill>
                      <a:srgbClr val="D5F5E3"/>
                    </a:solidFill>
                  </a:tcPr>
                </a:tc>
                <a:tc>
                  <a:txBody>
                    <a:bodyPr/>
                    <a:lstStyle/>
                    <a:p>
                      <a:pPr algn="ctr">
                        <a:defRPr sz="1200" b="1"/>
                      </a:pPr>
                      <a:r>
                        <a:t>0.894</a:t>
                      </a:r>
                    </a:p>
                  </a:txBody>
                  <a:tcPr>
                    <a:solidFill>
                      <a:srgbClr val="D5F5E3"/>
                    </a:solidFill>
                  </a:tcPr>
                </a:tc>
              </a:tr>
              <a:tr h="496388">
                <a:tc>
                  <a:txBody>
                    <a:bodyPr/>
                    <a:lstStyle/>
                    <a:p>
                      <a:pPr algn="l">
                        <a:defRPr sz="1200"/>
                      </a:pPr>
                      <a:r>
                        <a:t>K-Nearest Neighbors (Optimized)</a:t>
                      </a:r>
                    </a:p>
                  </a:txBody>
                  <a:tcPr>
                    <a:solidFill>
                      <a:srgbClr val="F9F9F9"/>
                    </a:solidFill>
                  </a:tcPr>
                </a:tc>
                <a:tc>
                  <a:txBody>
                    <a:bodyPr/>
                    <a:lstStyle/>
                    <a:p>
                      <a:pPr algn="ctr">
                        <a:defRPr sz="1200"/>
                      </a:pPr>
                      <a:r>
                        <a:t>0.876</a:t>
                      </a:r>
                    </a:p>
                  </a:txBody>
                  <a:tcPr>
                    <a:solidFill>
                      <a:srgbClr val="F9F9F9"/>
                    </a:solidFill>
                  </a:tcPr>
                </a:tc>
                <a:tc>
                  <a:txBody>
                    <a:bodyPr/>
                    <a:lstStyle/>
                    <a:p>
                      <a:pPr algn="ctr">
                        <a:defRPr sz="1200"/>
                      </a:pPr>
                      <a:r>
                        <a:t>0.884</a:t>
                      </a:r>
                    </a:p>
                  </a:txBody>
                  <a:tcPr>
                    <a:solidFill>
                      <a:srgbClr val="F9F9F9"/>
                    </a:solidFill>
                  </a:tcPr>
                </a:tc>
              </a:tr>
              <a:tr h="496388">
                <a:tc>
                  <a:txBody>
                    <a:bodyPr/>
                    <a:lstStyle/>
                    <a:p>
                      <a:pPr algn="l">
                        <a:defRPr sz="1200"/>
                      </a:pPr>
                      <a:r>
                        <a:t>Naive Bayes (Optimized)</a:t>
                      </a:r>
                    </a:p>
                  </a:txBody>
                  <a:tcPr/>
                </a:tc>
                <a:tc>
                  <a:txBody>
                    <a:bodyPr/>
                    <a:lstStyle/>
                    <a:p>
                      <a:pPr algn="ctr">
                        <a:defRPr sz="1200"/>
                      </a:pPr>
                      <a:r>
                        <a:t>0.838</a:t>
                      </a:r>
                    </a:p>
                  </a:txBody>
                  <a:tcPr/>
                </a:tc>
                <a:tc>
                  <a:txBody>
                    <a:bodyPr/>
                    <a:lstStyle/>
                    <a:p>
                      <a:pPr algn="ctr">
                        <a:defRPr sz="1200"/>
                      </a:pPr>
                      <a:r>
                        <a:t>0.853</a:t>
                      </a:r>
                    </a:p>
                  </a:txBody>
                  <a:tcPr/>
                </a:tc>
              </a:tr>
              <a:tr h="496392">
                <a:tc>
                  <a:txBody>
                    <a:bodyPr/>
                    <a:lstStyle/>
                    <a:p>
                      <a:pPr algn="l">
                        <a:defRPr sz="1200"/>
                      </a:pPr>
                      <a:r>
                        <a:t>Support Vector Machine (Optimized)</a:t>
                      </a:r>
                    </a:p>
                  </a:txBody>
                  <a:tcPr>
                    <a:solidFill>
                      <a:srgbClr val="F9F9F9"/>
                    </a:solidFill>
                  </a:tcPr>
                </a:tc>
                <a:tc>
                  <a:txBody>
                    <a:bodyPr/>
                    <a:lstStyle/>
                    <a:p>
                      <a:pPr algn="ctr">
                        <a:defRPr sz="1200"/>
                      </a:pPr>
                      <a:r>
                        <a:t>0.884</a:t>
                      </a:r>
                    </a:p>
                  </a:txBody>
                  <a:tcPr>
                    <a:solidFill>
                      <a:srgbClr val="F9F9F9"/>
                    </a:solidFill>
                  </a:tcPr>
                </a:tc>
                <a:tc>
                  <a:txBody>
                    <a:bodyPr/>
                    <a:lstStyle/>
                    <a:p>
                      <a:pPr algn="ctr">
                        <a:defRPr sz="1200"/>
                      </a:pPr>
                      <a:r>
                        <a:t>0.891</a:t>
                      </a:r>
                    </a:p>
                  </a:txBody>
                  <a:tcPr>
                    <a:solidFill>
                      <a:srgbClr val="F9F9F9"/>
                    </a:solidFill>
                  </a:tcPr>
                </a:tc>
              </a:tr>
            </a:tbl>
          </a:graphicData>
        </a:graphic>
      </p:graphicFrame>
      <p:pic>
        <p:nvPicPr>
          <p:cNvPr id="4" name="Picture 3" descr="performance_comparison.png"/>
          <p:cNvPicPr>
            <a:picLocks noChangeAspect="1"/>
          </p:cNvPicPr>
          <p:nvPr/>
        </p:nvPicPr>
        <p:blipFill>
          <a:blip r:embed="rId2"/>
          <a:stretch>
            <a:fillRect/>
          </a:stretch>
        </p:blipFill>
        <p:spPr>
          <a:xfrm>
            <a:off x="6400800" y="1371600"/>
            <a:ext cx="5029200" cy="2828925"/>
          </a:xfrm>
          <a:prstGeom prst="rect">
            <a:avLst/>
          </a:prstGeom>
        </p:spPr>
      </p:pic>
      <p:sp>
        <p:nvSpPr>
          <p:cNvPr id="5" name="TextBox 4"/>
          <p:cNvSpPr txBox="1"/>
          <p:nvPr/>
        </p:nvSpPr>
        <p:spPr>
          <a:xfrm>
            <a:off x="731520" y="5120640"/>
            <a:ext cx="10698480" cy="1097280"/>
          </a:xfrm>
          <a:prstGeom prst="rect">
            <a:avLst/>
          </a:prstGeom>
          <a:noFill/>
        </p:spPr>
        <p:txBody>
          <a:bodyPr wrap="none">
            <a:spAutoFit/>
          </a:bodyPr>
          <a:lstStyle/>
          <a:p/>
          <a:p>
            <a:pPr>
              <a:spcBef>
                <a:spcPts val="0"/>
              </a:spcBef>
              <a:spcAft>
                <a:spcPts val="200"/>
              </a:spcAft>
              <a:defRPr sz="1400" b="1">
                <a:solidFill>
                  <a:srgbClr val="2C3E50"/>
                </a:solidFill>
              </a:defRPr>
            </a:pPr>
            <a:r>
              <a:t>Model Terbaik: Support Vector Machine (Baseline)</a:t>
            </a:r>
          </a:p>
          <a:p>
            <a:pPr>
              <a:spcBef>
                <a:spcPts val="0"/>
              </a:spcBef>
              <a:spcAft>
                <a:spcPts val="0"/>
              </a:spcAft>
              <a:defRPr sz="1200" b="0">
                <a:solidFill>
                  <a:srgbClr val="555555"/>
                </a:solidFill>
              </a:defRPr>
            </a:pPr>
            <a:r>
              <a:t>Model SVM Baseline yang dikonfigurasi dengan kernel RBF dan parameter penyeimbang bobot kelas internal terbukti menghasilkan metrik evaluasi tertinggi. Eksperimen optimasi sekunder (SMOTE dan pengurangan jumlah fitur) pada SVM menyebabkan sedikit penurunan performa analitik karena terjadinya kehilangan beberapa informasi residual.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698480" cy="731520"/>
          </a:xfrm>
          <a:prstGeom prst="rect">
            <a:avLst/>
          </a:prstGeom>
          <a:noFill/>
        </p:spPr>
        <p:txBody>
          <a:bodyPr wrap="square">
            <a:spAutoFit/>
          </a:bodyPr>
          <a:lstStyle/>
          <a:p>
            <a:pPr>
              <a:defRPr sz="3400" b="1">
                <a:solidFill>
                  <a:srgbClr val="2C3E50"/>
                </a:solidFill>
              </a:defRPr>
            </a:pPr>
            <a:r>
              <a:t>Analisis Kesalahan Empiris (Error Analysis)</a:t>
            </a:r>
          </a:p>
        </p:txBody>
      </p:sp>
      <p:sp>
        <p:nvSpPr>
          <p:cNvPr id="3" name="TextBox 2"/>
          <p:cNvSpPr txBox="1"/>
          <p:nvPr/>
        </p:nvSpPr>
        <p:spPr>
          <a:xfrm>
            <a:off x="731520" y="1371600"/>
            <a:ext cx="5486400" cy="4572000"/>
          </a:xfrm>
          <a:prstGeom prst="rect">
            <a:avLst/>
          </a:prstGeom>
          <a:noFill/>
        </p:spPr>
        <p:txBody>
          <a:bodyPr wrap="square">
            <a:spAutoFit/>
          </a:bodyPr>
          <a:lstStyle/>
          <a:p/>
          <a:p>
            <a:pPr>
              <a:spcBef>
                <a:spcPts val="600"/>
              </a:spcBef>
              <a:spcAft>
                <a:spcPts val="200"/>
              </a:spcAft>
              <a:defRPr sz="1500" b="1">
                <a:solidFill>
                  <a:srgbClr val="2C3E50"/>
                </a:solidFill>
              </a:defRPr>
            </a:pPr>
            <a:r>
              <a:t>Distribusi Kesalahan Prediksi Klasifikasi</a:t>
            </a:r>
          </a:p>
          <a:p>
            <a:pPr lvl="1">
              <a:spcBef>
                <a:spcPts val="0"/>
              </a:spcBef>
              <a:spcAft>
                <a:spcPts val="800"/>
              </a:spcAft>
              <a:defRPr sz="1300" b="0">
                <a:solidFill>
                  <a:srgbClr val="555555"/>
                </a:solidFill>
              </a:defRPr>
            </a:pPr>
            <a:r>
              <a:t>Berdasarkan matriks kebingungan (Confusion Matrix) di samping, SVM menghasilkan:</a:t>
            </a:r>
            <a:br/>
            <a:r>
              <a:t>- True Positive: 415 observasi</a:t>
            </a:r>
            <a:br/>
            <a:r>
              <a:t>- True Negative: 234 observasi</a:t>
            </a:r>
            <a:br/>
            <a:r>
              <a:t>- False Positive (Salah klasifikasi sebagai Lulus): 50 observasi</a:t>
            </a:r>
            <a:br/>
            <a:r>
              <a:t>- False Negative (Salah klasifikasi sebagai Dropout): 27 observasi</a:t>
            </a:r>
          </a:p>
          <a:p>
            <a:pPr>
              <a:spcBef>
                <a:spcPts val="600"/>
              </a:spcBef>
              <a:spcAft>
                <a:spcPts val="200"/>
              </a:spcAft>
              <a:defRPr sz="1500" b="1">
                <a:solidFill>
                  <a:srgbClr val="2C3E50"/>
                </a:solidFill>
              </a:defRPr>
            </a:pPr>
            <a:r>
              <a:t>Identifikasi Pola Kesalahan</a:t>
            </a:r>
          </a:p>
          <a:p>
            <a:pPr lvl="1">
              <a:spcBef>
                <a:spcPts val="0"/>
              </a:spcBef>
              <a:spcAft>
                <a:spcPts val="800"/>
              </a:spcAft>
              <a:defRPr sz="1300" b="0">
                <a:solidFill>
                  <a:srgbClr val="555555"/>
                </a:solidFill>
              </a:defRPr>
            </a:pPr>
            <a:r>
              <a:t>Penyelidikan lebih mendalam terhadap 50 kasus False Positive menunjukkan suatu pola konsisten: mahasiswa yang teridentifikasi memiliki skor akademis (SKS dan IPK) yang memuaskan di tahun pertama, namun pada kenyataannya tetap mengalami status putus kuliah.</a:t>
            </a:r>
          </a:p>
          <a:p>
            <a:pPr>
              <a:spcBef>
                <a:spcPts val="600"/>
              </a:spcBef>
              <a:spcAft>
                <a:spcPts val="200"/>
              </a:spcAft>
              <a:defRPr sz="1500" b="1">
                <a:solidFill>
                  <a:srgbClr val="2C3E50"/>
                </a:solidFill>
              </a:defRPr>
            </a:pPr>
            <a:r>
              <a:t>Kesimpulan Keterbatasan Data Tabular</a:t>
            </a:r>
          </a:p>
          <a:p>
            <a:pPr lvl="1">
              <a:spcBef>
                <a:spcPts val="0"/>
              </a:spcBef>
              <a:spcAft>
                <a:spcPts val="800"/>
              </a:spcAft>
              <a:defRPr sz="1300" b="0">
                <a:solidFill>
                  <a:srgbClr val="555555"/>
                </a:solidFill>
              </a:defRPr>
            </a:pPr>
            <a:r>
              <a:t>Model secara fundamental terbatas oleh cakupan variabel yang diukur. Dropout pada mahasiswa berprestasi seringkali dipicu oleh anomali non-akademik, seperti kesulitan perekonomian keluarga atau persoalan medis, yang sama sekali tidak direpresentasikan dalam struktur dataset ini.</a:t>
            </a:r>
          </a:p>
        </p:txBody>
      </p:sp>
      <p:pic>
        <p:nvPicPr>
          <p:cNvPr id="4" name="Picture 3" descr="confusion_matrix.png"/>
          <p:cNvPicPr>
            <a:picLocks noChangeAspect="1"/>
          </p:cNvPicPr>
          <p:nvPr/>
        </p:nvPicPr>
        <p:blipFill>
          <a:blip r:embed="rId2"/>
          <a:stretch>
            <a:fillRect/>
          </a:stretch>
        </p:blipFill>
        <p:spPr>
          <a:xfrm>
            <a:off x="6766560" y="1371600"/>
            <a:ext cx="4389120" cy="36576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F2761"/>
        </a:solidFill>
        <a:effectLst/>
      </p:bgPr>
    </p:bg>
    <p:spTree>
      <p:nvGrpSpPr>
        <p:cNvPr id="1" name=""/>
        <p:cNvGrpSpPr/>
        <p:nvPr/>
      </p:nvGrpSpPr>
      <p:grpSpPr/>
      <p:sp>
        <p:nvSpPr>
          <p:cNvPr id="2" name="TextBox 1"/>
          <p:cNvSpPr txBox="1"/>
          <p:nvPr/>
        </p:nvSpPr>
        <p:spPr>
          <a:xfrm>
            <a:off x="731520" y="365760"/>
            <a:ext cx="10698480" cy="731520"/>
          </a:xfrm>
          <a:prstGeom prst="rect">
            <a:avLst/>
          </a:prstGeom>
          <a:noFill/>
        </p:spPr>
        <p:txBody>
          <a:bodyPr wrap="square">
            <a:spAutoFit/>
          </a:bodyPr>
          <a:lstStyle/>
          <a:p>
            <a:pPr>
              <a:defRPr sz="3400" b="1">
                <a:solidFill>
                  <a:srgbClr val="FFFFFF"/>
                </a:solidFill>
              </a:defRPr>
            </a:pPr>
            <a:r>
              <a:t>Pembahasan Analitis dan Implikasi Praktis</a:t>
            </a:r>
          </a:p>
        </p:txBody>
      </p:sp>
      <p:sp>
        <p:nvSpPr>
          <p:cNvPr id="3" name="TextBox 2"/>
          <p:cNvSpPr txBox="1"/>
          <p:nvPr/>
        </p:nvSpPr>
        <p:spPr>
          <a:xfrm>
            <a:off x="731520" y="1371600"/>
            <a:ext cx="10698480" cy="4572000"/>
          </a:xfrm>
          <a:prstGeom prst="rect">
            <a:avLst/>
          </a:prstGeom>
          <a:noFill/>
        </p:spPr>
        <p:txBody>
          <a:bodyPr wrap="square">
            <a:spAutoFit/>
          </a:bodyPr>
          <a:lstStyle/>
          <a:p/>
          <a:p>
            <a:pPr>
              <a:spcBef>
                <a:spcPts val="800"/>
              </a:spcBef>
              <a:spcAft>
                <a:spcPts val="200"/>
              </a:spcAft>
              <a:defRPr sz="1800" b="1">
                <a:solidFill>
                  <a:srgbClr val="FFFFFF"/>
                </a:solidFill>
              </a:defRPr>
            </a:pPr>
            <a:r>
              <a:t>Trade-off Performa Pemodelan dan Interpretabilitas</a:t>
            </a:r>
          </a:p>
          <a:p>
            <a:pPr lvl="1">
              <a:spcBef>
                <a:spcPts val="0"/>
              </a:spcBef>
              <a:spcAft>
                <a:spcPts val="1000"/>
              </a:spcAft>
              <a:defRPr sz="1400" b="0">
                <a:solidFill>
                  <a:srgbClr val="CADCFC"/>
                </a:solidFill>
              </a:defRPr>
            </a:pPr>
            <a:r>
              <a:t>Evaluasi model menyoroti keseimbangan klasik dalam Machine Learning: algoritma kompleks seperti SVM RBF menghasilkan presisi dan F1-Macro tertinggi (0.887), namun beroperasi dengan sifat black-box. Sebaliknya, metode probabilistik Naive Bayes sangat transparan untuk dijelaskan fungsinya secara statistik, tetapi gagal mencapai recall yang memadai pada kelas mayoritas.</a:t>
            </a:r>
          </a:p>
          <a:p>
            <a:pPr>
              <a:spcBef>
                <a:spcPts val="800"/>
              </a:spcBef>
              <a:spcAft>
                <a:spcPts val="200"/>
              </a:spcAft>
              <a:defRPr sz="1800" b="1">
                <a:solidFill>
                  <a:srgbClr val="FFFFFF"/>
                </a:solidFill>
              </a:defRPr>
            </a:pPr>
            <a:r>
              <a:t>Signifikansi dan Implikasi Kebijakan Institusi</a:t>
            </a:r>
          </a:p>
          <a:p>
            <a:pPr lvl="1">
              <a:spcBef>
                <a:spcPts val="0"/>
              </a:spcBef>
              <a:spcAft>
                <a:spcPts val="1000"/>
              </a:spcAft>
              <a:defRPr sz="1400" b="0">
                <a:solidFill>
                  <a:srgbClr val="CADCFC"/>
                </a:solidFill>
              </a:defRPr>
            </a:pPr>
            <a:r>
              <a:t>Sistem klasifikasi ini memiliki potensi strategis sebagai komponen inti dari Early Warning System di universitas. Mahasiswa yang diproyeksikan memiliki risiko tinggi dapat segera dialokasikan pada program intervensi preventif, seperti konseling akademik intensif atau penyediaan opsi bantuan finansial berkelanjutan.</a:t>
            </a:r>
          </a:p>
          <a:p>
            <a:pPr>
              <a:spcBef>
                <a:spcPts val="1200"/>
              </a:spcBef>
              <a:spcAft>
                <a:spcPts val="200"/>
              </a:spcAft>
              <a:defRPr sz="1600" b="1">
                <a:solidFill>
                  <a:srgbClr val="C0392B"/>
                </a:solidFill>
              </a:defRPr>
            </a:pPr>
            <a:r>
              <a:t>Batasan Etis Implementasi Kecerdasan Buatan</a:t>
            </a:r>
          </a:p>
          <a:p>
            <a:pPr lvl="1">
              <a:spcBef>
                <a:spcPts val="0"/>
              </a:spcBef>
              <a:spcAft>
                <a:spcPts val="1000"/>
              </a:spcAft>
              <a:defRPr sz="1300" b="0">
                <a:solidFill>
                  <a:srgbClr val="CADCFC"/>
                </a:solidFill>
              </a:defRPr>
            </a:pPr>
            <a:r>
              <a:t>Model prediktif ini dikonstruksi secara eksklusif sebagai Decision Support System (sistem penunjang keputusan). Kebijakan akademik yang memengaruhi nasib mahasiswa dilarang dieksekusi secara otomatis oleh algoritma, dan validasi otoritas tenaga pendidik (Dosen Wali) tetap bersifat mutlak.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698480" cy="731520"/>
          </a:xfrm>
          <a:prstGeom prst="rect">
            <a:avLst/>
          </a:prstGeom>
          <a:noFill/>
        </p:spPr>
        <p:txBody>
          <a:bodyPr wrap="square">
            <a:spAutoFit/>
          </a:bodyPr>
          <a:lstStyle/>
          <a:p>
            <a:pPr>
              <a:defRPr sz="3400" b="1">
                <a:solidFill>
                  <a:srgbClr val="2C3E50"/>
                </a:solidFill>
              </a:defRPr>
            </a:pPr>
            <a:r>
              <a:t>Desain Aplikasi Antarmuka Pengguna</a:t>
            </a:r>
          </a:p>
        </p:txBody>
      </p:sp>
      <p:sp>
        <p:nvSpPr>
          <p:cNvPr id="3" name="TextBox 2"/>
          <p:cNvSpPr txBox="1"/>
          <p:nvPr/>
        </p:nvSpPr>
        <p:spPr>
          <a:xfrm>
            <a:off x="731520" y="1371600"/>
            <a:ext cx="10698480" cy="4572000"/>
          </a:xfrm>
          <a:prstGeom prst="rect">
            <a:avLst/>
          </a:prstGeom>
          <a:noFill/>
        </p:spPr>
        <p:txBody>
          <a:bodyPr wrap="square">
            <a:spAutoFit/>
          </a:bodyPr>
          <a:lstStyle/>
          <a:p/>
          <a:p>
            <a:pPr>
              <a:spcBef>
                <a:spcPts val="600"/>
              </a:spcBef>
              <a:spcAft>
                <a:spcPts val="200"/>
              </a:spcAft>
              <a:defRPr sz="1600" b="1">
                <a:solidFill>
                  <a:srgbClr val="2C3E50"/>
                </a:solidFill>
              </a:defRPr>
            </a:pPr>
            <a:r>
              <a:t>Arsitektur Antarmuka Streamlit (Main Frontend)</a:t>
            </a:r>
          </a:p>
          <a:p>
            <a:pPr lvl="1">
              <a:spcBef>
                <a:spcPts val="0"/>
              </a:spcBef>
              <a:spcAft>
                <a:spcPts val="1000"/>
              </a:spcAft>
              <a:defRPr sz="1400" b="0">
                <a:solidFill>
                  <a:srgbClr val="555555"/>
                </a:solidFill>
              </a:defRPr>
            </a:pPr>
            <a:r>
              <a:t>Sebuah web dashboard komprehensif dikembangkan mencakup empat struktur panel: (1) Mesin Prediksi Interaktif dengan penunjuk nilai kepercayaan model, (2) Panel Visualisasi Eksploratori Dataset, (3) Laporan Integritas Metrik Evaluasi, dan (4) Dokumentasi Edukasi Model secara naratif.</a:t>
            </a:r>
          </a:p>
          <a:p>
            <a:pPr>
              <a:spcBef>
                <a:spcPts val="600"/>
              </a:spcBef>
              <a:spcAft>
                <a:spcPts val="200"/>
              </a:spcAft>
              <a:defRPr sz="1600" b="1">
                <a:solidFill>
                  <a:srgbClr val="2C3E50"/>
                </a:solidFill>
              </a:defRPr>
            </a:pPr>
            <a:r>
              <a:t>Desain Restful API (FastAPI Backend)</a:t>
            </a:r>
          </a:p>
          <a:p>
            <a:pPr lvl="1">
              <a:spcBef>
                <a:spcPts val="0"/>
              </a:spcBef>
              <a:spcAft>
                <a:spcPts val="1000"/>
              </a:spcAft>
              <a:defRPr sz="1400" b="0">
                <a:solidFill>
                  <a:srgbClr val="555555"/>
                </a:solidFill>
              </a:defRPr>
            </a:pPr>
            <a:r>
              <a:t>Infrastruktur inferensi dienkapsulasi menggunakan protokol FastAPI, menghasilkan endpoint berbasis JSON yang terstandardisasi dan mendukung dokumentasi Swagger UI. Arsitektur ini memungkinkan injeksi langsung ke dalam Sistem Informasi Akademik (SIAKAD) berskala produksi.</a:t>
            </a:r>
          </a:p>
          <a:p>
            <a:pPr>
              <a:spcBef>
                <a:spcPts val="600"/>
              </a:spcBef>
              <a:spcAft>
                <a:spcPts val="200"/>
              </a:spcAft>
              <a:defRPr sz="1600" b="1">
                <a:solidFill>
                  <a:srgbClr val="2C3E50"/>
                </a:solidFill>
              </a:defRPr>
            </a:pPr>
            <a:r>
              <a:t>Integrasi Kepatuhan Etika</a:t>
            </a:r>
          </a:p>
          <a:p>
            <a:pPr lvl="1">
              <a:spcBef>
                <a:spcPts val="0"/>
              </a:spcBef>
              <a:spcAft>
                <a:spcPts val="1000"/>
              </a:spcAft>
              <a:defRPr sz="1400" b="0">
                <a:solidFill>
                  <a:srgbClr val="555555"/>
                </a:solidFill>
              </a:defRPr>
            </a:pPr>
            <a:r>
              <a:t>Seluruh antarmuka secara eksplisit mencantumkan penafian (disclaimer) etis dan instruksi pemahaman probabilitas. Hal ini mengedukasi pengguna akhir bahwa setiap output mesin hanyalah alat bantu administratif, bukan vonis akademis pasti.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F2761"/>
        </a:solidFill>
        <a:effectLst/>
      </p:bgPr>
    </p:bg>
    <p:spTree>
      <p:nvGrpSpPr>
        <p:cNvPr id="1" name=""/>
        <p:cNvGrpSpPr/>
        <p:nvPr/>
      </p:nvGrpSpPr>
      <p:grpSpPr/>
      <p:sp>
        <p:nvSpPr>
          <p:cNvPr id="2" name="TextBox 1"/>
          <p:cNvSpPr txBox="1"/>
          <p:nvPr/>
        </p:nvSpPr>
        <p:spPr>
          <a:xfrm>
            <a:off x="731520" y="365760"/>
            <a:ext cx="10698480" cy="731520"/>
          </a:xfrm>
          <a:prstGeom prst="rect">
            <a:avLst/>
          </a:prstGeom>
          <a:noFill/>
        </p:spPr>
        <p:txBody>
          <a:bodyPr wrap="square">
            <a:spAutoFit/>
          </a:bodyPr>
          <a:lstStyle/>
          <a:p>
            <a:pPr>
              <a:defRPr sz="3400" b="1">
                <a:solidFill>
                  <a:srgbClr val="FFFFFF"/>
                </a:solidFill>
              </a:defRPr>
            </a:pPr>
            <a:r>
              <a:t>Kesimpulan dan Rekomendasi Lanjutan</a:t>
            </a:r>
          </a:p>
        </p:txBody>
      </p:sp>
      <p:sp>
        <p:nvSpPr>
          <p:cNvPr id="3" name="TextBox 2"/>
          <p:cNvSpPr txBox="1"/>
          <p:nvPr/>
        </p:nvSpPr>
        <p:spPr>
          <a:xfrm>
            <a:off x="731520" y="1371600"/>
            <a:ext cx="10698480" cy="4572000"/>
          </a:xfrm>
          <a:prstGeom prst="rect">
            <a:avLst/>
          </a:prstGeom>
          <a:noFill/>
        </p:spPr>
        <p:txBody>
          <a:bodyPr wrap="square">
            <a:spAutoFit/>
          </a:bodyPr>
          <a:lstStyle/>
          <a:p/>
          <a:p>
            <a:pPr>
              <a:spcBef>
                <a:spcPts val="800"/>
              </a:spcBef>
              <a:spcAft>
                <a:spcPts val="200"/>
              </a:spcAft>
              <a:defRPr sz="1800" b="1">
                <a:solidFill>
                  <a:srgbClr val="FFFFFF"/>
                </a:solidFill>
              </a:defRPr>
            </a:pPr>
            <a:r>
              <a:t>Kesimpulan Efektivitas Model</a:t>
            </a:r>
          </a:p>
          <a:p>
            <a:pPr lvl="1">
              <a:spcBef>
                <a:spcPts val="0"/>
              </a:spcBef>
              <a:spcAft>
                <a:spcPts val="1000"/>
              </a:spcAft>
              <a:defRPr sz="1400" b="0">
                <a:solidFill>
                  <a:srgbClr val="CADCFC"/>
                </a:solidFill>
              </a:defRPr>
            </a:pPr>
            <a:r>
              <a:t>Pendekatan berbasis Support Vector Machine secara konsisten mempertahankan superioritas metrik dengan F1-Macro sebesar 0.8869 dan akurasi umum 89,39%. Reduksi set parameter ke dalam 10 fitur utama terbukti mumpuni untuk membentuk batas keputusan yang tangguh tanpa mencederai komputasi waktu inferensi.</a:t>
            </a:r>
          </a:p>
          <a:p>
            <a:pPr>
              <a:spcBef>
                <a:spcPts val="800"/>
              </a:spcBef>
              <a:spcAft>
                <a:spcPts val="200"/>
              </a:spcAft>
              <a:defRPr sz="1800" b="1">
                <a:solidFill>
                  <a:srgbClr val="FFFFFF"/>
                </a:solidFill>
              </a:defRPr>
            </a:pPr>
            <a:r>
              <a:t>Identifikasi Keterbatasan Domain</a:t>
            </a:r>
          </a:p>
          <a:p>
            <a:pPr lvl="1">
              <a:spcBef>
                <a:spcPts val="0"/>
              </a:spcBef>
              <a:spcAft>
                <a:spcPts val="1000"/>
              </a:spcAft>
              <a:defRPr sz="1400" b="0">
                <a:solidFill>
                  <a:srgbClr val="CADCFC"/>
                </a:solidFill>
              </a:defRPr>
            </a:pPr>
            <a:r>
              <a:t>Validitas algoritma saat ini dibatasi oleh demografi asal (data historis mahasiswa Portugal). Generalisasi performa terhadap data mahasiswa di lanskap pendidikan Indonesia mengharuskan proses kalibrasi ulang atau penerapan metode transfer learning.</a:t>
            </a:r>
          </a:p>
          <a:p>
            <a:pPr>
              <a:spcBef>
                <a:spcPts val="800"/>
              </a:spcBef>
              <a:spcAft>
                <a:spcPts val="200"/>
              </a:spcAft>
              <a:defRPr sz="1800" b="1">
                <a:solidFill>
                  <a:srgbClr val="FFFFFF"/>
                </a:solidFill>
              </a:defRPr>
            </a:pPr>
            <a:r>
              <a:t>Saran Pengembangan Penelitian Berkala</a:t>
            </a:r>
          </a:p>
          <a:p>
            <a:pPr lvl="1">
              <a:spcBef>
                <a:spcPts val="0"/>
              </a:spcBef>
              <a:spcAft>
                <a:spcPts val="1000"/>
              </a:spcAft>
              <a:defRPr sz="1400" b="0">
                <a:solidFill>
                  <a:srgbClr val="CADCFC"/>
                </a:solidFill>
              </a:defRPr>
            </a:pPr>
            <a:r>
              <a:t>Direkomendasikan agar studi masa depan merangkul teknologi Ensemble Stacking multivariat, mengintegrasikan framework Explainable AI (khususnya nilai Shapley/SHAP) guna menghapus sifat black-box model, serta mengemas keseluruhan lingkungan deployment ke dalam arsitektur terisolasi berbasis Docker.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F2761"/>
        </a:solidFill>
        <a:effectLst/>
      </p:bgPr>
    </p:bg>
    <p:spTree>
      <p:nvGrpSpPr>
        <p:cNvPr id="1" name=""/>
        <p:cNvGrpSpPr/>
        <p:nvPr/>
      </p:nvGrpSpPr>
      <p:grpSpPr/>
      <p:sp>
        <p:nvSpPr>
          <p:cNvPr id="2" name="TextBox 1"/>
          <p:cNvSpPr txBox="1"/>
          <p:nvPr/>
        </p:nvSpPr>
        <p:spPr>
          <a:xfrm>
            <a:off x="731520" y="2011680"/>
            <a:ext cx="10698480" cy="2743200"/>
          </a:xfrm>
          <a:prstGeom prst="rect">
            <a:avLst/>
          </a:prstGeom>
          <a:noFill/>
        </p:spPr>
        <p:txBody>
          <a:bodyPr wrap="none">
            <a:spAutoFit/>
          </a:bodyPr>
          <a:lstStyle/>
          <a:p>
            <a:pPr algn="ctr">
              <a:defRPr sz="5400" b="1">
                <a:solidFill>
                  <a:srgbClr val="FFFFFF"/>
                </a:solidFill>
              </a:defRPr>
            </a:pPr>
            <a:r>
              <a:t>TERIMA KASIH</a:t>
            </a:r>
          </a:p>
          <a:p>
            <a:pPr algn="ctr">
              <a:spcBef>
                <a:spcPts val="1500"/>
              </a:spcBef>
              <a:defRPr sz="1600">
                <a:solidFill>
                  <a:srgbClr val="CADCFC"/>
                </a:solidFill>
              </a:defRPr>
            </a:pPr>
            <a:r>
              <a:t>Repositori proyek memuat seluruh basis kode instruksional, dataset, serta laporan akhir akademis:</a:t>
            </a:r>
          </a:p>
          <a:p>
            <a:pPr algn="ctr">
              <a:spcBef>
                <a:spcPts val="1000"/>
              </a:spcBef>
              <a:defRPr sz="2000" b="1">
                <a:solidFill>
                  <a:srgbClr val="FFFFFF"/>
                </a:solidFill>
              </a:defRPr>
            </a:pPr>
            <a:r>
              <a:t>https://github.com/hafizmuzani011-collab/uas-ml-kelulusan</a:t>
            </a:r>
          </a:p>
          <a:p>
            <a:pPr algn="ctr">
              <a:spcBef>
                <a:spcPts val="3000"/>
              </a:spcBef>
              <a:defRPr sz="1800">
                <a:solidFill>
                  <a:srgbClr val="CADCFC"/>
                </a:solidFill>
              </a:defRPr>
            </a:pPr>
            <a:r>
              <a:t>Wassalamualaikum Warahmatullahi Wabarakatuh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