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Prediksi Kelulusan Mahasiswa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Menggunakan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ADCFC"/>
                </a:solidFill>
              </a:defRPr>
            </a:pPr>
            <a:r>
              <a:t>Na'ilah Azfa Zarqarida — A11.2024.15549</a:t>
            </a:r>
            <a:br/>
            <a:r>
              <a:t>A11.4401 &amp; A11.4410 — UAS Pembelajaran Mesin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Latar Belakang &amp; Tujuan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F2F2F2"/>
                </a:solidFill>
              </a:defRPr>
            </a:pPr>
            <a:r>
              <a:t>🔴 Dataset UCI: 39% mahasiswa dropout — masalah serius bagi institusi</a:t>
            </a:r>
          </a:p>
          <a:p>
            <a:pPr>
              <a:spcAft>
                <a:spcPts val="400"/>
              </a:spcAft>
              <a:defRPr sz="1600" b="0">
                <a:solidFill>
                  <a:srgbClr val="F2F2F2"/>
                </a:solidFill>
              </a:defRPr>
            </a:pPr>
          </a:p>
          <a:p>
            <a:pPr>
              <a:spcAft>
                <a:spcPts val="400"/>
              </a:spcAft>
              <a:defRPr sz="1600" b="0">
                <a:solidFill>
                  <a:srgbClr val="F2F2F2"/>
                </a:solidFill>
              </a:defRPr>
            </a:pPr>
            <a:r>
              <a:t>🎯 Tujuan: Sistem deteksi dini mahasiswa berisiko dropout</a:t>
            </a:r>
          </a:p>
          <a:p>
            <a:pPr>
              <a:spcAft>
                <a:spcPts val="400"/>
              </a:spcAft>
              <a:defRPr sz="1600" b="0">
                <a:solidFill>
                  <a:srgbClr val="F2F2F2"/>
                </a:solidFill>
              </a:defRPr>
            </a:pPr>
          </a:p>
          <a:p>
            <a:pPr>
              <a:spcAft>
                <a:spcPts val="400"/>
              </a:spcAft>
              <a:defRPr sz="1600" b="0">
                <a:solidFill>
                  <a:srgbClr val="F2F2F2"/>
                </a:solidFill>
              </a:defRPr>
            </a:pPr>
            <a:r>
              <a:t>📌 OBE: CPL-8 (Analitik ML) &amp; CPL-10 (Etika Teknologi)</a:t>
            </a:r>
          </a:p>
          <a:p>
            <a:pPr>
              <a:spcAft>
                <a:spcPts val="400"/>
              </a:spcAft>
              <a:defRPr sz="1600" b="0">
                <a:solidFill>
                  <a:srgbClr val="F2F2F2"/>
                </a:solidFill>
              </a:defRPr>
            </a:pPr>
          </a:p>
          <a:p>
            <a:pPr>
              <a:spcAft>
                <a:spcPts val="400"/>
              </a:spcAft>
              <a:defRPr sz="1600" b="0">
                <a:solidFill>
                  <a:srgbClr val="F2F2F2"/>
                </a:solidFill>
              </a:defRPr>
            </a:pPr>
            <a:r>
              <a:t>📊 Output: Klasifikasi Lulus Tepat Waktu vs Tidak Lulus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3E50"/>
                </a:solidFill>
              </a:defRPr>
            </a:pPr>
            <a:r>
              <a:t>Dataset &amp;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2C3E50"/>
                </a:solidFill>
              </a:defRPr>
            </a:pPr>
            <a:r>
              <a:t>📦 Sumber: UCI Predict Students Dropout (4.424 → 3.630 baris)</a:t>
            </a:r>
          </a:p>
          <a:p>
            <a:pPr>
              <a:spcAft>
                <a:spcPts val="400"/>
              </a:spcAft>
              <a:defRPr sz="1600" b="0">
                <a:solidFill>
                  <a:srgbClr val="2C3E50"/>
                </a:solidFill>
              </a:defRPr>
            </a:pPr>
          </a:p>
          <a:p>
            <a:pPr>
              <a:spcAft>
                <a:spcPts val="400"/>
              </a:spcAft>
              <a:defRPr sz="1600" b="0">
                <a:solidFill>
                  <a:srgbClr val="2C3E50"/>
                </a:solidFill>
              </a:defRPr>
            </a:pPr>
            <a:r>
              <a:t>🔧 Pipeline:</a:t>
            </a:r>
          </a:p>
          <a:p>
            <a:pPr>
              <a:spcAft>
                <a:spcPts val="400"/>
              </a:spcAft>
              <a:defRPr sz="1600" b="0">
                <a:solidFill>
                  <a:srgbClr val="2C3E50"/>
                </a:solidFill>
              </a:defRPr>
            </a:pPr>
            <a:r>
              <a:t>  1. Filter Enrolled → 3.630 data biner (Graduate/Dropout)</a:t>
            </a:r>
          </a:p>
          <a:p>
            <a:pPr>
              <a:spcAft>
                <a:spcPts val="400"/>
              </a:spcAft>
              <a:defRPr sz="1600" b="0">
                <a:solidFill>
                  <a:srgbClr val="2C3E50"/>
                </a:solidFill>
              </a:defRPr>
            </a:pPr>
            <a:r>
              <a:t>  2. Feature Selection: 10 fitur via Mutual Information</a:t>
            </a:r>
          </a:p>
          <a:p>
            <a:pPr>
              <a:spcAft>
                <a:spcPts val="400"/>
              </a:spcAft>
              <a:defRPr sz="1600" b="0">
                <a:solidFill>
                  <a:srgbClr val="2C3E50"/>
                </a:solidFill>
              </a:defRPr>
            </a:pPr>
            <a:r>
              <a:t>  3. Train-Test Split: 80/20 (stratified)</a:t>
            </a:r>
          </a:p>
          <a:p>
            <a:pPr>
              <a:spcAft>
                <a:spcPts val="400"/>
              </a:spcAft>
              <a:defRPr sz="1600" b="0">
                <a:solidFill>
                  <a:srgbClr val="2C3E50"/>
                </a:solidFill>
              </a:defRPr>
            </a:pPr>
            <a:r>
              <a:t>  4. StandardScaler: Normalisasi fitur numerik</a:t>
            </a:r>
          </a:p>
          <a:p>
            <a:pPr>
              <a:spcAft>
                <a:spcPts val="400"/>
              </a:spcAft>
              <a:defRPr sz="1600" b="0">
                <a:solidFill>
                  <a:srgbClr val="2C3E50"/>
                </a:solidFill>
              </a:defRPr>
            </a:pPr>
            <a:r>
              <a:t>  5. SMOTE: Synthetic oversampling (hanya data training)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035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28090"/>
                </a:solidFill>
              </a:defRPr>
            </a:pPr>
            <a:r>
              <a:t>✅ Tidak ada data leakage (split sebelum SMOTE)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809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Desain Eksperimen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FFFFFF"/>
                </a:solidFill>
              </a:defRPr>
            </a:pPr>
            <a:r>
              <a:t>3 MODEL BASELINE</a:t>
            </a:r>
          </a:p>
          <a:p>
            <a:pPr>
              <a:spcAft>
                <a:spcPts val="400"/>
              </a:spcAft>
              <a:defRPr sz="1600" b="0">
                <a:solidFill>
                  <a:srgbClr val="FFFFFF"/>
                </a:solidFill>
              </a:defRPr>
            </a:pPr>
            <a:r>
              <a:t>   • KNN (k=5)  • Naive Bayes Gaussian  • SVM (RBF, class_weight=balanced)</a:t>
            </a:r>
          </a:p>
          <a:p>
            <a:pPr>
              <a:spcAft>
                <a:spcPts val="400"/>
              </a:spcAft>
              <a:defRPr sz="1600" b="0">
                <a:solidFill>
                  <a:srgbClr val="FFFFFF"/>
                </a:solidFill>
              </a:defRPr>
            </a:pPr>
          </a:p>
          <a:p>
            <a:pPr>
              <a:spcAft>
                <a:spcPts val="400"/>
              </a:spcAft>
              <a:defRPr sz="1600" b="0">
                <a:solidFill>
                  <a:srgbClr val="FFFFFF"/>
                </a:solidFill>
              </a:defRPr>
            </a:pPr>
            <a:r>
              <a:t>4 STRATEGI OPTIMASI</a:t>
            </a:r>
          </a:p>
          <a:p>
            <a:pPr>
              <a:spcAft>
                <a:spcPts val="400"/>
              </a:spcAft>
              <a:defRPr sz="1600" b="0">
                <a:solidFill>
                  <a:srgbClr val="FFFFFF"/>
                </a:solidFill>
              </a:defRPr>
            </a:pPr>
            <a:r>
              <a:t>   1️⃣ Hyperparameter Tuning (GridSearchCV)</a:t>
            </a:r>
          </a:p>
          <a:p>
            <a:pPr>
              <a:spcAft>
                <a:spcPts val="400"/>
              </a:spcAft>
              <a:defRPr sz="1600" b="0">
                <a:solidFill>
                  <a:srgbClr val="FFFFFF"/>
                </a:solidFill>
              </a:defRPr>
            </a:pPr>
            <a:r>
              <a:t>   2️⃣ Stratified K-Fold Cross Validation (k=5)</a:t>
            </a:r>
          </a:p>
          <a:p>
            <a:pPr>
              <a:spcAft>
                <a:spcPts val="400"/>
              </a:spcAft>
              <a:defRPr sz="1600" b="0">
                <a:solidFill>
                  <a:srgbClr val="FFFFFF"/>
                </a:solidFill>
              </a:defRPr>
            </a:pPr>
            <a:r>
              <a:t>   3️⃣ Feature Selection (Mutual Information)</a:t>
            </a:r>
          </a:p>
          <a:p>
            <a:pPr>
              <a:spcAft>
                <a:spcPts val="400"/>
              </a:spcAft>
              <a:defRPr sz="1600" b="0">
                <a:solidFill>
                  <a:srgbClr val="FFFFFF"/>
                </a:solidFill>
              </a:defRPr>
            </a:pPr>
            <a:r>
              <a:t>   4️⃣ SMOTE (Class Imbalance Handling)</a:t>
            </a:r>
          </a:p>
          <a:p>
            <a:pPr>
              <a:spcAft>
                <a:spcPts val="400"/>
              </a:spcAft>
              <a:defRPr sz="1600" b="0">
                <a:solidFill>
                  <a:srgbClr val="FFFFFF"/>
                </a:solidFill>
              </a:defRPr>
            </a:pPr>
          </a:p>
          <a:p>
            <a:pPr>
              <a:spcAft>
                <a:spcPts val="400"/>
              </a:spcAft>
              <a:defRPr sz="1600" b="0">
                <a:solidFill>
                  <a:srgbClr val="FFFFFF"/>
                </a:solidFill>
              </a:defRPr>
            </a:pPr>
            <a:r>
              <a:t>📐 Scoring Utama: f1_macro (bukan accuracy)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3E50"/>
                </a:solidFill>
              </a:defRPr>
            </a:pPr>
            <a:r>
              <a:t>Hasil Baseline vs Optimized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6070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301752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F1-Macro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t>KNN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0.869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0.879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t>Naive Bayes Baseline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0.829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0.844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t>SVM Baseline 🏆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0.887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0.894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t>KNN Optimized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0.876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0.884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t>Naive Bayes Optimized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0.838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0.853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t>SVM Optimized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0.884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0.891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28090"/>
                </a:solidFill>
              </a:defRPr>
            </a:pPr>
            <a:r>
              <a:t>🏆 Model Terbaik: SVM Baseline (kernel RBF + class_weight=balanced)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Error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F2F2F2"/>
                </a:solidFill>
              </a:defRPr>
            </a:pPr>
            <a:r>
              <a:t>📊 Confusion Matrix SVM Baseline:</a:t>
            </a:r>
          </a:p>
          <a:p>
            <a:pPr>
              <a:spcAft>
                <a:spcPts val="400"/>
              </a:spcAft>
              <a:defRPr sz="1600" b="0">
                <a:solidFill>
                  <a:srgbClr val="F2F2F2"/>
                </a:solidFill>
              </a:defRPr>
            </a:pPr>
            <a:r>
              <a:t>  • TP: 415  • TN: 234</a:t>
            </a:r>
          </a:p>
          <a:p>
            <a:pPr>
              <a:spcAft>
                <a:spcPts val="400"/>
              </a:spcAft>
              <a:defRPr sz="1600" b="0">
                <a:solidFill>
                  <a:srgbClr val="F2F2F2"/>
                </a:solidFill>
              </a:defRPr>
            </a:pPr>
            <a:r>
              <a:t>  • FP: 50 (dropout diprediksi lulus)</a:t>
            </a:r>
          </a:p>
          <a:p>
            <a:pPr>
              <a:spcAft>
                <a:spcPts val="400"/>
              </a:spcAft>
              <a:defRPr sz="1600" b="0">
                <a:solidFill>
                  <a:srgbClr val="F2F2F2"/>
                </a:solidFill>
              </a:defRPr>
            </a:pPr>
            <a:r>
              <a:t>  • FN: 27 (lulus diprediksi dropout)</a:t>
            </a:r>
          </a:p>
          <a:p>
            <a:pPr>
              <a:spcAft>
                <a:spcPts val="400"/>
              </a:spcAft>
              <a:defRPr sz="1600" b="0">
                <a:solidFill>
                  <a:srgbClr val="F2F2F2"/>
                </a:solidFill>
              </a:defRPr>
            </a:pPr>
          </a:p>
          <a:p>
            <a:pPr>
              <a:spcAft>
                <a:spcPts val="400"/>
              </a:spcAft>
              <a:defRPr sz="1600" b="0">
                <a:solidFill>
                  <a:srgbClr val="F2F2F2"/>
                </a:solidFill>
              </a:defRPr>
            </a:pPr>
            <a:r>
              <a:t>🧠 Pola: Mahasiswa dengan SKS tinggi tapi dropout karena</a:t>
            </a:r>
          </a:p>
          <a:p>
            <a:pPr>
              <a:spcAft>
                <a:spcPts val="400"/>
              </a:spcAft>
              <a:defRPr sz="1600" b="0">
                <a:solidFill>
                  <a:srgbClr val="F2F2F2"/>
                </a:solidFill>
              </a:defRPr>
            </a:pPr>
            <a:r>
              <a:t>faktor non-akademik (ekonomi/keluarga) sulit dideteksi model.</a:t>
            </a:r>
          </a:p>
          <a:p>
            <a:pPr>
              <a:spcAft>
                <a:spcPts val="400"/>
              </a:spcAft>
              <a:defRPr sz="1600" b="0">
                <a:solidFill>
                  <a:srgbClr val="F2F2F2"/>
                </a:solidFill>
              </a:defRPr>
            </a:pPr>
          </a:p>
          <a:p>
            <a:pPr>
              <a:spcAft>
                <a:spcPts val="400"/>
              </a:spcAft>
              <a:defRPr sz="1600" b="0">
                <a:solidFill>
                  <a:srgbClr val="F2F2F2"/>
                </a:solidFill>
              </a:defRPr>
            </a:pPr>
            <a:r>
              <a:t>💡 Insight: Model perlu dilengkapi data non-akademik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3E50"/>
                </a:solidFill>
              </a:defRPr>
            </a:pPr>
            <a:r>
              <a:t>Pembahasan &amp; Trade-off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2C3E50"/>
                </a:solidFill>
              </a:defRPr>
            </a:pPr>
            <a:r>
              <a:t>⚖️ Perbandingan Model:</a:t>
            </a:r>
          </a:p>
          <a:p>
            <a:pPr>
              <a:spcAft>
                <a:spcPts val="400"/>
              </a:spcAft>
              <a:defRPr sz="1600" b="0">
                <a:solidFill>
                  <a:srgbClr val="2C3E50"/>
                </a:solidFill>
              </a:defRPr>
            </a:pPr>
            <a:r>
              <a:t>  • SVM RBF: Akurasi tinggi ↔ Kurang interpretabel</a:t>
            </a:r>
          </a:p>
          <a:p>
            <a:pPr>
              <a:spcAft>
                <a:spcPts val="400"/>
              </a:spcAft>
              <a:defRPr sz="1600" b="0">
                <a:solidFill>
                  <a:srgbClr val="2C3E50"/>
                </a:solidFill>
              </a:defRPr>
            </a:pPr>
            <a:r>
              <a:t>  • Naive Bayes: Interpretabel ↔ Recall dropout rendah</a:t>
            </a:r>
          </a:p>
          <a:p>
            <a:pPr>
              <a:spcAft>
                <a:spcPts val="400"/>
              </a:spcAft>
              <a:defRPr sz="1600" b="0">
                <a:solidFill>
                  <a:srgbClr val="2C3E50"/>
                </a:solidFill>
              </a:defRPr>
            </a:pPr>
            <a:r>
              <a:t>  • KNN: Sederhana ↔ Sensitif terhadap K</a:t>
            </a:r>
          </a:p>
          <a:p>
            <a:pPr>
              <a:spcAft>
                <a:spcPts val="400"/>
              </a:spcAft>
              <a:defRPr sz="1600" b="0">
                <a:solidFill>
                  <a:srgbClr val="2C3E50"/>
                </a:solidFill>
              </a:defRPr>
            </a:pPr>
          </a:p>
          <a:p>
            <a:pPr>
              <a:spcAft>
                <a:spcPts val="400"/>
              </a:spcAft>
              <a:defRPr sz="1600" b="0">
                <a:solidFill>
                  <a:srgbClr val="2C3E50"/>
                </a:solidFill>
              </a:defRPr>
            </a:pPr>
            <a:r>
              <a:t>🏛️ Implikasi Institusi:</a:t>
            </a:r>
          </a:p>
          <a:p>
            <a:pPr>
              <a:spcAft>
                <a:spcPts val="400"/>
              </a:spcAft>
              <a:defRPr sz="1600" b="0">
                <a:solidFill>
                  <a:srgbClr val="2C3E50"/>
                </a:solidFill>
              </a:defRPr>
            </a:pPr>
            <a:r>
              <a:t>  → Early Warning System untuk intervensi dini</a:t>
            </a:r>
          </a:p>
          <a:p>
            <a:pPr>
              <a:spcAft>
                <a:spcPts val="400"/>
              </a:spcAft>
              <a:defRPr sz="1600" b="0">
                <a:solidFill>
                  <a:srgbClr val="2C3E50"/>
                </a:solidFill>
              </a:defRPr>
            </a:pPr>
            <a:r>
              <a:t>  → Konseling akademik &amp; bantuan finansial</a:t>
            </a:r>
          </a:p>
          <a:p>
            <a:pPr>
              <a:spcAft>
                <a:spcPts val="400"/>
              </a:spcAft>
              <a:defRPr sz="1600" b="0">
                <a:solidFill>
                  <a:srgbClr val="2C3E50"/>
                </a:solidFill>
              </a:defRPr>
            </a:pPr>
          </a:p>
          <a:p>
            <a:pPr>
              <a:spcAft>
                <a:spcPts val="400"/>
              </a:spcAft>
              <a:defRPr sz="1600" b="0">
                <a:solidFill>
                  <a:srgbClr val="2C3E50"/>
                </a:solidFill>
              </a:defRPr>
            </a:pPr>
            <a:r>
              <a:t>⚠️ DECISION SUPPORT — BUKAN KEPUTUSAN FINAL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809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Desain Aplikasi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FFFFFF"/>
                </a:solidFill>
              </a:defRPr>
            </a:pPr>
            <a:r>
              <a:t>🖥️ Streamlit — 4 Halaman:</a:t>
            </a:r>
          </a:p>
          <a:p>
            <a:pPr>
              <a:spcAft>
                <a:spcPts val="400"/>
              </a:spcAft>
              <a:defRPr sz="1600" b="0">
                <a:solidFill>
                  <a:srgbClr val="FFFFFF"/>
                </a:solidFill>
              </a:defRPr>
            </a:pPr>
            <a:r>
              <a:t>  1. Prediksi (input 10 fitur + confidence score)</a:t>
            </a:r>
          </a:p>
          <a:p>
            <a:pPr>
              <a:spcAft>
                <a:spcPts val="400"/>
              </a:spcAft>
              <a:defRPr sz="1600" b="0">
                <a:solidFill>
                  <a:srgbClr val="FFFFFF"/>
                </a:solidFill>
              </a:defRPr>
            </a:pPr>
            <a:r>
              <a:t>  2. Dashboard Data (distribusi &amp; statistik)</a:t>
            </a:r>
          </a:p>
          <a:p>
            <a:pPr>
              <a:spcAft>
                <a:spcPts val="400"/>
              </a:spcAft>
              <a:defRPr sz="1600" b="0">
                <a:solidFill>
                  <a:srgbClr val="FFFFFF"/>
                </a:solidFill>
              </a:defRPr>
            </a:pPr>
            <a:r>
              <a:t>  3. Performa Model (tabel 6 model + grafik)</a:t>
            </a:r>
          </a:p>
          <a:p>
            <a:pPr>
              <a:spcAft>
                <a:spcPts val="400"/>
              </a:spcAft>
              <a:defRPr sz="1600" b="0">
                <a:solidFill>
                  <a:srgbClr val="FFFFFF"/>
                </a:solidFill>
              </a:defRPr>
            </a:pPr>
            <a:r>
              <a:t>  4. Penjelasan Model (SVM dalam Bahasa Indonesia)</a:t>
            </a:r>
          </a:p>
          <a:p>
            <a:pPr>
              <a:spcAft>
                <a:spcPts val="400"/>
              </a:spcAft>
              <a:defRPr sz="1600" b="0">
                <a:solidFill>
                  <a:srgbClr val="FFFFFF"/>
                </a:solidFill>
              </a:defRPr>
            </a:pPr>
          </a:p>
          <a:p>
            <a:pPr>
              <a:spcAft>
                <a:spcPts val="400"/>
              </a:spcAft>
              <a:defRPr sz="1600" b="0">
                <a:solidFill>
                  <a:srgbClr val="FFFFFF"/>
                </a:solidFill>
              </a:defRPr>
            </a:pPr>
            <a:r>
              <a:t>⚡ FastAPI — Backend REST API</a:t>
            </a:r>
          </a:p>
          <a:p>
            <a:pPr>
              <a:spcAft>
                <a:spcPts val="400"/>
              </a:spcAft>
              <a:defRPr sz="1600" b="0">
                <a:solidFill>
                  <a:srgbClr val="FFFFFF"/>
                </a:solidFill>
              </a:defRPr>
            </a:pPr>
            <a:r>
              <a:t>🎛️ Gradio — Alternatif UI</a:t>
            </a:r>
          </a:p>
          <a:p>
            <a:pPr>
              <a:spcAft>
                <a:spcPts val="400"/>
              </a:spcAft>
              <a:defRPr sz="1600" b="0">
                <a:solidFill>
                  <a:srgbClr val="FFFFFF"/>
                </a:solidFill>
              </a:defRPr>
            </a:pPr>
          </a:p>
          <a:p>
            <a:pPr>
              <a:spcAft>
                <a:spcPts val="400"/>
              </a:spcAft>
              <a:defRPr sz="1600" b="0">
                <a:solidFill>
                  <a:srgbClr val="FFFFFF"/>
                </a:solidFill>
              </a:defRPr>
            </a:pPr>
            <a:r>
              <a:t>✅ Disclaimer etis di setiap halaman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Kesimpulan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F2F2F2"/>
                </a:solidFill>
              </a:defRPr>
            </a:pPr>
            <a:r>
              <a:t>1️⃣ SVM Baseline terbaik: F1=0.887, Acc=0.894</a:t>
            </a:r>
          </a:p>
          <a:p>
            <a:pPr>
              <a:spcAft>
                <a:spcPts val="400"/>
              </a:spcAft>
              <a:defRPr sz="1600" b="0">
                <a:solidFill>
                  <a:srgbClr val="F2F2F2"/>
                </a:solidFill>
              </a:defRPr>
            </a:pPr>
          </a:p>
          <a:p>
            <a:pPr>
              <a:spcAft>
                <a:spcPts val="400"/>
              </a:spcAft>
              <a:defRPr sz="1600" b="0">
                <a:solidFill>
                  <a:srgbClr val="F2F2F2"/>
                </a:solidFill>
              </a:defRPr>
            </a:pPr>
            <a:r>
              <a:t>2️⃣ 10 fitur terpilih efektif untuk prediksi</a:t>
            </a:r>
          </a:p>
          <a:p>
            <a:pPr>
              <a:spcAft>
                <a:spcPts val="400"/>
              </a:spcAft>
              <a:defRPr sz="1600" b="0">
                <a:solidFill>
                  <a:srgbClr val="F2F2F2"/>
                </a:solidFill>
              </a:defRPr>
            </a:pPr>
          </a:p>
          <a:p>
            <a:pPr>
              <a:spcAft>
                <a:spcPts val="400"/>
              </a:spcAft>
              <a:defRPr sz="1600" b="0">
                <a:solidFill>
                  <a:srgbClr val="F2F2F2"/>
                </a:solidFill>
              </a:defRPr>
            </a:pPr>
            <a:r>
              <a:t>3️⃣ Keterbatasan: Dataset Portugal → perlu validasi lokal</a:t>
            </a:r>
          </a:p>
          <a:p>
            <a:pPr>
              <a:spcAft>
                <a:spcPts val="400"/>
              </a:spcAft>
              <a:defRPr sz="1600" b="0">
                <a:solidFill>
                  <a:srgbClr val="F2F2F2"/>
                </a:solidFill>
              </a:defRPr>
            </a:pPr>
          </a:p>
          <a:p>
            <a:pPr>
              <a:spcAft>
                <a:spcPts val="400"/>
              </a:spcAft>
              <a:defRPr sz="1600" b="0">
                <a:solidFill>
                  <a:srgbClr val="F2F2F2"/>
                </a:solidFill>
              </a:defRPr>
            </a:pPr>
            <a:r>
              <a:t>4️⃣ Rekomendasi: Ensemble methods, SHAP/LIME,</a:t>
            </a:r>
          </a:p>
          <a:p>
            <a:pPr>
              <a:spcAft>
                <a:spcPts val="400"/>
              </a:spcAft>
              <a:defRPr sz="1600" b="0">
                <a:solidFill>
                  <a:srgbClr val="F2F2F2"/>
                </a:solidFill>
              </a:defRPr>
            </a:pPr>
            <a:r>
              <a:t>   Docker deployment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Terima Kasih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github.com/hafizmuzani011-collab/uas-ml-kelulusan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Wassalamualaikum Wr. Wb.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