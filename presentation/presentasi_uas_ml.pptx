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PREDIKSI KELULUSAN MAHASISWA</a:t>
            </a:r>
          </a:p>
          <a:p>
            <a:pPr>
              <a:spcBef>
                <a:spcPts val="1000"/>
              </a:spcBef>
              <a:defRPr sz="2200">
                <a:solidFill>
                  <a:srgbClr val="CADCFC"/>
                </a:solidFill>
              </a:defRPr>
            </a:pPr>
            <a:r>
              <a:t>Menggunakan Klasifikasi Machine Learning &amp; Optimasi Berbasis 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CADCFC"/>
                </a:solidFill>
              </a:defRPr>
            </a:pPr>
            <a:r>
              <a:t>Oleh: Na'ilah Azfa Zarqarida (NIM: A11.2024.15549)</a:t>
            </a:r>
            <a:br/>
            <a:r>
              <a:t>Kelompok: A11.4401 &amp; A11.4410 — Universitas Dian Nuswantoro</a:t>
            </a:r>
            <a:br/>
            <a:r>
              <a:t>UAS Pembelajaran Mesin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Latar Belakang &amp; Urgensi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🔴 Potret Krisis Dropout di Perguruan Tinggi</a:t>
            </a:r>
          </a:p>
          <a:p>
            <a:pPr>
              <a:spcAft>
                <a:spcPts val="800"/>
              </a:spcAft>
              <a:defRPr sz="1400">
                <a:solidFill>
                  <a:srgbClr val="CADCFC"/>
                </a:solidFill>
              </a:defRPr>
            </a:pPr>
            <a:r>
              <a:t>   Berdasarkan dataset UCI Academic Success, tercatat angka dropout mahasiswa mencapai 39% (dari total 4.424 mahasiswa). Ini menunjukkan kerentanan besar dalam proses studi mahasiswa.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🏫 Dampak Kritis bagi Institusi Pendidikan</a:t>
            </a:r>
          </a:p>
          <a:p>
            <a:pPr>
              <a:spcAft>
                <a:spcPts val="800"/>
              </a:spcAft>
              <a:defRPr sz="1400">
                <a:solidFill>
                  <a:srgbClr val="CADCFC"/>
                </a:solidFill>
              </a:defRPr>
            </a:pPr>
            <a:r>
              <a:t>   Tingginya angka dropout merusak Indikator Kinerja Utama (IKU) universitas, menyebabkan inefisiensi alokasi anggaran, serta merugikan masa depan mahasiswa.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🎯 Solusi Prediksi Dini (Early Warning System)</a:t>
            </a:r>
          </a:p>
          <a:p>
            <a:pPr>
              <a:spcAft>
                <a:spcPts val="800"/>
              </a:spcAft>
              <a:defRPr sz="1400">
                <a:solidFill>
                  <a:srgbClr val="CADCFC"/>
                </a:solidFill>
              </a:defRPr>
            </a:pPr>
            <a:r>
              <a:t>   Project ini bertujuan mengembangkan sistem klasifikasi cerdas untuk mendeteksi risiko dropout secara otomatis sebelum semester akhir, agar dosen wali dapat melakukan pembinaan preventif.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📚 Keselarasan dengan OBE (Outcome-Based Education)</a:t>
            </a:r>
          </a:p>
          <a:p>
            <a:pPr>
              <a:spcAft>
                <a:spcPts val="800"/>
              </a:spcAft>
              <a:defRPr sz="1400">
                <a:solidFill>
                  <a:srgbClr val="CADCFC"/>
                </a:solidFill>
              </a:defRPr>
            </a:pPr>
            <a:r>
              <a:t>   Memenuhi capaian pembelajaran CPL-8 (keterampilan analitik dan pemodelan machine learning) serta CPL-10 (pemahaman dampak etis dan tanggung jawab sosial pemanfaatan AI).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Dataset &amp; 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1. Dataset &amp; Filtering</a:t>
            </a:r>
          </a:p>
          <a:p>
            <a:pPr>
              <a:spcAft>
                <a:spcPts val="600"/>
              </a:spcAft>
              <a:defRPr sz="1300">
                <a:solidFill>
                  <a:srgbClr val="7F8C8D"/>
                </a:solidFill>
              </a:defRPr>
            </a:pPr>
            <a:r>
              <a:t>   Menggunakan dataset UCI 'Predict Students Dropout'. Data Enrolled disaring keluar sehingga menyisakan 3.630 baris data biner: Kelas 1 (Graduate) vs Kelas 0 (Dropout).</a:t>
            </a:r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2. Seleksi 10 Fitur Terbaik (Mutual Information)</a:t>
            </a:r>
          </a:p>
          <a:p>
            <a:pPr>
              <a:spcAft>
                <a:spcPts val="600"/>
              </a:spcAft>
              <a:defRPr sz="1300">
                <a:solidFill>
                  <a:srgbClr val="7F8C8D"/>
                </a:solidFill>
              </a:defRPr>
            </a:pPr>
            <a:r>
              <a:t>   Fitur dipilih berdasarkan skor informasi timbal-balik tertinggi, seperti IPK Semester 1-2, SKS yang disetujui, Usia saat mendaftar, Status pembayaran UKT, dan Penerima Beasiswa.</a:t>
            </a:r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3. Stratified Data Splitting (80/20)</a:t>
            </a:r>
          </a:p>
          <a:p>
            <a:pPr>
              <a:spcAft>
                <a:spcPts val="600"/>
              </a:spcAft>
              <a:defRPr sz="1300">
                <a:solidFill>
                  <a:srgbClr val="7F8C8D"/>
                </a:solidFill>
              </a:defRPr>
            </a:pPr>
            <a:r>
              <a:t>   Pemisahan data training (2.904 baris) dan testing (726 baris) dengan mempertahankan proporsi kelas asli untuk menjaga objektivitas evaluasi.</a:t>
            </a:r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4. Robust Scaling (StandardScaler)</a:t>
            </a:r>
          </a:p>
          <a:p>
            <a:pPr>
              <a:spcAft>
                <a:spcPts val="600"/>
              </a:spcAft>
              <a:defRPr sz="1300">
                <a:solidFill>
                  <a:srgbClr val="7F8C8D"/>
                </a:solidFill>
              </a:defRPr>
            </a:pPr>
            <a:r>
              <a:t>   Normalisasi semua fitur numerik agar tidak ada bias rentang nilai pada KNN dan SVM. Parameter fit hanya diambil dari training set.</a:t>
            </a:r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5. Class Imbalance Handling (SMOTE)</a:t>
            </a:r>
          </a:p>
          <a:p>
            <a:pPr>
              <a:spcAft>
                <a:spcPts val="600"/>
              </a:spcAft>
              <a:defRPr sz="1300">
                <a:solidFill>
                  <a:srgbClr val="7F8C8D"/>
                </a:solidFill>
              </a:defRPr>
            </a:pPr>
            <a:r>
              <a:t>   Penerapan SMOTE pada data training untuk menyeimbangkan kelas minoritas (Dropout) secara sintetis menjadi 50:50. Data test dibiarkan murni.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Desain Eksperimen &amp; Strategi Optimasi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📊 Tiga Model Klasifikasi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300">
                <a:solidFill>
                  <a:srgbClr val="CADCFC"/>
                </a:solidFill>
              </a:defRPr>
            </a:pPr>
            <a:r>
              <a:t>1) K-Nearest Neighbors (KNN)</a:t>
            </a:r>
            <a:br/>
            <a:r>
              <a:t>2) Naive Bayes (GaussianNB)</a:t>
            </a:r>
            <a:br/>
            <a:r>
              <a:t>3) Support Vector Machine (SVM) dengan Kernel RBF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⚙️ Empat Strategi Optimasi Utama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300">
                <a:solidFill>
                  <a:srgbClr val="CADCFC"/>
                </a:solidFill>
              </a:defRPr>
            </a:pPr>
            <a:r>
              <a:t>• Hyperparameter Tuning: GridSearchCV mencari parameter K terbaik pada KNN, smoothing parameter pada NB, dan parameter regulasi C pada SVM.</a:t>
            </a:r>
            <a:br/>
            <a:r>
              <a:t>• Cross-Validation: 5-Fold Stratified CV digunakan untuk menjamin generalisasi parameter.</a:t>
            </a:r>
            <a:br/>
            <a:r>
              <a:t>• Dimensionality/Feature Selection: Seleksi 10 fitur Mutual Information.</a:t>
            </a:r>
            <a:br/>
            <a:r>
              <a:t>• Class Balancing: SMOTE oversampling.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📈 Pemilihan Metrik Utama (F1-Macro &amp; Balanced Accuracy)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300">
                <a:solidFill>
                  <a:srgbClr val="CADCFC"/>
                </a:solidFill>
              </a:defRPr>
            </a:pPr>
            <a:r>
              <a:t>Metrik F1-Macro dipilih sebagai metrik prioritas pengganti akurasi karena mampu menilai keadilan model terhadap kedua kelas target secara seimbang (tidak bias mayoritas).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Hasil Eksperimen &amp; Model Terbaik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463040"/>
              </a:tblGrid>
              <a:tr h="4963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F1-Macro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KNN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0.879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Naive Bayes Baseline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0.829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0.844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t>SVM Baseline 🏆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0.887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0.894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KNN Optimized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0.876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0.884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Naive Bayes Optimized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0.853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SVM Optimized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0.884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0.891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828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🏆 MODEL TERBAIK: SVM Baseline (Kernel RBF, C=1.0, class_weight='balanced') dengan F1-Macro 0.8869.</a:t>
            </a:r>
            <a:br/>
            <a:r>
              <a:t>Optimasi eksternal (SMOTE + 8 fitur) mengalami sedikit degradasi F1 (0.884) karena hilangnya beberapa informasi prediktif.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Empirical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500" b="1">
                <a:solidFill>
                  <a:srgbClr val="2C3E50"/>
                </a:solidFill>
              </a:defRPr>
            </a:pPr>
            <a:r>
              <a:t>📊 Distribusi Kesalahan Model</a:t>
            </a:r>
          </a:p>
          <a:p>
            <a:pPr>
              <a:spcAft>
                <a:spcPts val="600"/>
              </a:spcAft>
              <a:defRPr sz="1200">
                <a:solidFill>
                  <a:srgbClr val="7F8C8D"/>
                </a:solidFill>
              </a:defRPr>
            </a:pPr>
            <a:r>
              <a:t>• True Positive: 415 | True Negative: 234</a:t>
            </a:r>
            <a:br/>
            <a:r>
              <a:t>• False Positive (FP): 50 | False Negative (FN): 27</a:t>
            </a:r>
          </a:p>
          <a:p>
            <a:pPr>
              <a:spcBef>
                <a:spcPts val="600"/>
              </a:spcBef>
              <a:defRPr sz="1500" b="1">
                <a:solidFill>
                  <a:srgbClr val="2C3E50"/>
                </a:solidFill>
              </a:defRPr>
            </a:pPr>
            <a:r>
              <a:t>🕵️ Pola Kesalahan yang Ditemukan</a:t>
            </a:r>
          </a:p>
          <a:p>
            <a:pPr>
              <a:spcAft>
                <a:spcPts val="600"/>
              </a:spcAft>
              <a:defRPr sz="1200">
                <a:solidFill>
                  <a:srgbClr val="7F8C8D"/>
                </a:solidFill>
              </a:defRPr>
            </a:pPr>
            <a:r>
              <a:t>Mahasiswa yang memiliki SKS tinggi (Semester 1 &amp; 2 lengkap) tetapi mendadak dropout sering kali gagal dideteksi oleh model (terprediksi Graduate).</a:t>
            </a:r>
          </a:p>
          <a:p>
            <a:pPr>
              <a:spcBef>
                <a:spcPts val="600"/>
              </a:spcBef>
              <a:defRPr sz="1500" b="1">
                <a:solidFill>
                  <a:srgbClr val="2C3E50"/>
                </a:solidFill>
              </a:defRPr>
            </a:pPr>
            <a:r>
              <a:t>💡 Penyebab Logis Kegagalan Model</a:t>
            </a:r>
          </a:p>
          <a:p>
            <a:pPr>
              <a:spcAft>
                <a:spcPts val="600"/>
              </a:spcAft>
              <a:defRPr sz="1200">
                <a:solidFill>
                  <a:srgbClr val="7F8C8D"/>
                </a:solidFill>
              </a:defRPr>
            </a:pPr>
            <a:r>
              <a:t>Banyak mahasiswa dropout karena faktor eksternal (seperti kesulitan finansial pribadi, masalah kesehatan, atau faktor keluarga) yang datanya tidak terekam dalam atribut akademis. Ini membuktikan batasan machine learning tabular akademik.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57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Pembahasan Akademik &amp; Implikasi Institusi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FFFFFF"/>
                </a:solidFill>
              </a:defRPr>
            </a:pPr>
            <a:r>
              <a:t>⚖️ Trade-off Akurasi vs Kompleksitas vs Interpretabilitas</a:t>
            </a:r>
          </a:p>
          <a:p>
            <a:pPr>
              <a:spcAft>
                <a:spcPts val="1200"/>
              </a:spcAft>
              <a:defRPr sz="1400">
                <a:solidFill>
                  <a:srgbClr val="CADCFC"/>
                </a:solidFill>
              </a:defRPr>
            </a:pPr>
            <a:r>
              <a:t>   • SVM RBF: Akurasi &amp; F1-Macro tertinggi (0.887), tetapi sulit diinterpretasikan secara langsung (black-box).</a:t>
            </a:r>
            <a:br/>
            <a:r>
              <a:t>   • Naive Bayes: Paling cepat dan sangat mudah diinterpretasikan secara statistik, tetapi recall kelas Dropout-nya paling rendah.</a:t>
            </a:r>
            <a:br/>
            <a:r>
              <a:t>   • K-Nearest Neighbors: Sederhana dan intuitif, tetapi sensitif terhadap noise dan penentuan nilai K.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🏛️ Implikasi untuk Institusi Pendidikan</a:t>
            </a:r>
          </a:p>
          <a:p>
            <a:pPr>
              <a:spcAft>
                <a:spcPts val="1200"/>
              </a:spcAft>
              <a:defRPr sz="1400">
                <a:solidFill>
                  <a:srgbClr val="CADCFC"/>
                </a:solidFill>
              </a:defRPr>
            </a:pPr>
            <a:r>
              <a:t>   1. Pemasangan Early Warning System (EWS): Membantu Biro Akademik mendeteksi mahasiswa terancam DO sejak semester 2.</a:t>
            </a:r>
            <a:br/>
            <a:r>
              <a:t>   2. Program Intervensi Preventif: Pihak kampus dapat memberikan beasiswa bagi yang terkendala ukt atau konseling khusus.</a:t>
            </a:r>
            <a:br/>
            <a:r>
              <a:t>   3. Tanggung Jawab Sosial: Meminimalisir angka putus kuliah secara signifikan guna meningkatkan reputasi institusi.</a:t>
            </a:r>
          </a:p>
          <a:p>
            <a:pPr>
              <a:defRPr sz="1300" b="1">
                <a:solidFill>
                  <a:srgbClr val="FF8C8C"/>
                </a:solidFill>
              </a:defRPr>
            </a:pPr>
            <a:r>
              <a:t>⚠️ BATASAN ETIS: Model HANYA berfungsi sebagai sistem pendukung keputusan (Decision Support System) bagi dosen wali. Keputusan drop out tidak boleh dilakukan secara otomatis oleh sistem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Desain Aplikasi &amp; Antarmuka UI/UX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🖥️ Streamlit Frontend Dashboard</a:t>
            </a:r>
          </a:p>
          <a:p>
            <a:pPr>
              <a:spcAft>
                <a:spcPts val="600"/>
              </a:spcAft>
              <a:defRPr sz="1300">
                <a:solidFill>
                  <a:srgbClr val="7F8C8D"/>
                </a:solidFill>
              </a:defRPr>
            </a:pPr>
            <a:r>
              <a:t>Didesain dengan 4 menu utama: (1) Prediksi Mandiri: Form interaktif 10 input dengan output status kelulusan + tingkat kepercayaan model, (2) Dashboard Visualisasi Dataset, (3) Tabel Perbandingan Performa 6 Model, (4) Edukasi/Penjelasan Model Klasifikasi.</a:t>
            </a:r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⚡ FastAPI Backend Rest API</a:t>
            </a:r>
          </a:p>
          <a:p>
            <a:pPr>
              <a:spcAft>
                <a:spcPts val="600"/>
              </a:spcAft>
              <a:defRPr sz="1300">
                <a:solidFill>
                  <a:srgbClr val="7F8C8D"/>
                </a:solidFill>
              </a:defRPr>
            </a:pPr>
            <a:r>
              <a:t>Menyediakan endpoint `/predict` berbasis JSON yang siap diintegrasikan dengan Sistem Informasi Akademik (SIAKAD) universitas secara real-time.</a:t>
            </a:r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🎛️ Gradio Alternative UI</a:t>
            </a:r>
          </a:p>
          <a:p>
            <a:pPr>
              <a:spcAft>
                <a:spcPts val="600"/>
              </a:spcAft>
              <a:defRPr sz="1300">
                <a:solidFill>
                  <a:srgbClr val="7F8C8D"/>
                </a:solidFill>
              </a:defRPr>
            </a:pPr>
            <a:r>
              <a:t>UI alternatif berdesain minimalis yang memfasilitasi pengujian model cepat dengan drag-and-drop input.</a:t>
            </a:r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🛡️ Fitur Keamanan &amp; Desain Etis</a:t>
            </a:r>
          </a:p>
          <a:p>
            <a:pPr>
              <a:spcAft>
                <a:spcPts val="600"/>
              </a:spcAft>
              <a:defRPr sz="1300">
                <a:solidFill>
                  <a:srgbClr val="7F8C8D"/>
                </a:solidFill>
              </a:defRPr>
            </a:pPr>
            <a:r>
              <a:t>Tiap antarmuka dilengkapi disclaimer etika, penanganan input tidak valid, serta peringatan probabilitas rendah.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Kesimpulan &amp; Rekomendasi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1. Capaian Target Model</a:t>
            </a:r>
          </a:p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</a:defRPr>
            </a:pPr>
            <a:r>
              <a:t>Model SVM Baseline berhasil mendeteksi risiko kelulusan mahasiswa dengan akurasi 89,39% dan F1-Macro 0.8869, sangat stabil dan siap dideploy.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2. Keterbatasan Penelitian</a:t>
            </a:r>
          </a:p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</a:defRPr>
            </a:pPr>
            <a:r>
              <a:t>Dataset yang digunakan didominasi oleh riwayat mahasiswa dari Portugal. Diperlukan penyesuaian (transfer learning) sebelum diterapkan langsung di Indonesia.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3. Rekomendasi Pengembangan Masa Depan</a:t>
            </a:r>
          </a:p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</a:defRPr>
            </a:pPr>
            <a:r>
              <a:t>• Integrasikan dengan data lokal universitas untuk pelatihan ulang.</a:t>
            </a:r>
            <a:br/>
            <a:r>
              <a:t>• Gunakan metode Ensemble Stacking (kombinasi SVM, KNN, Random Forest) untuk menaikkan performa.</a:t>
            </a:r>
            <a:br/>
            <a:r>
              <a:t>• Implementasikan framework eXplainable AI (seperti SHAP) agar dosen wali memahami alasan di balik setiap prediksi.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 algn="ctr">
              <a:spcBef>
                <a:spcPts val="1500"/>
              </a:spcBef>
              <a:defRPr sz="1600">
                <a:solidFill>
                  <a:srgbClr val="CADCFC"/>
                </a:solidFill>
              </a:defRPr>
            </a:pPr>
            <a:r>
              <a:t>Seluruh source code, dataset, dan laporan lengkap dapat diakses pada repository GitHub: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https://github.com/hafizmuzani011-collab/uas-ml-kelulusan</a:t>
            </a:r>
          </a:p>
          <a:p>
            <a:pPr algn="ctr">
              <a:spcBef>
                <a:spcPts val="2000"/>
              </a:spcBef>
              <a:defRPr sz="1800">
                <a:solidFill>
                  <a:srgbClr val="CADCFC"/>
                </a:solidFill>
              </a:defRPr>
            </a:pPr>
            <a:r>
              <a:t>Wassalamualaikum Warahmatullahi Wabarakatuh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