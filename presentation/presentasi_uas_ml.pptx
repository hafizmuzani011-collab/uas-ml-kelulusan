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1645920"/>
            <a:ext cx="10698480" cy="2011680"/>
          </a:xfrm>
          <a:prstGeom prst="rect">
            <a:avLst/>
          </a:prstGeom>
          <a:noFill/>
        </p:spPr>
        <p:txBody>
          <a:bodyPr wrap="square">
            <a:spAutoFit/>
          </a:bodyPr>
          <a:lstStyle/>
          <a:p>
            <a:pPr>
              <a:defRPr sz="4400" b="1">
                <a:solidFill>
                  <a:srgbClr val="FFFFFF"/>
                </a:solidFill>
              </a:defRPr>
            </a:pPr>
            <a:r>
              <a:t>PREDIKSI KELULUSAN MAHASISWA</a:t>
            </a:r>
          </a:p>
          <a:p>
            <a:pPr>
              <a:spcBef>
                <a:spcPts val="1000"/>
              </a:spcBef>
              <a:spcAft>
                <a:spcPts val="0"/>
              </a:spcAft>
              <a:defRPr sz="2200" b="0">
                <a:solidFill>
                  <a:srgbClr val="CADCFC"/>
                </a:solidFill>
              </a:defRPr>
            </a:pPr>
            <a:r>
              <a:t>Pendekatan Machine Learning dan Implementasi Outcome-Based Education (OBE)</a:t>
            </a:r>
          </a:p>
        </p:txBody>
      </p:sp>
      <p:sp>
        <p:nvSpPr>
          <p:cNvPr id="3" name="TextBox 2"/>
          <p:cNvSpPr txBox="1"/>
          <p:nvPr/>
        </p:nvSpPr>
        <p:spPr>
          <a:xfrm>
            <a:off x="731520" y="3931920"/>
            <a:ext cx="10698480" cy="1371600"/>
          </a:xfrm>
          <a:prstGeom prst="rect">
            <a:avLst/>
          </a:prstGeom>
          <a:noFill/>
        </p:spPr>
        <p:txBody>
          <a:bodyPr wrap="none">
            <a:spAutoFit/>
          </a:bodyPr>
          <a:lstStyle/>
          <a:p>
            <a:pPr>
              <a:defRPr sz="1600">
                <a:solidFill>
                  <a:srgbClr val="CADCFC"/>
                </a:solidFill>
              </a:defRPr>
            </a:pPr>
            <a:r>
              <a:t>Na'ilah Azfa Zarqarida (NIM: A11.2024.15549)</a:t>
            </a:r>
            <a:br/>
            <a:r>
              <a:t>Kelompok: A11.4401 &amp; A11.4410</a:t>
            </a:r>
            <a:br/>
            <a:r>
              <a:t>Universitas Dian Nuswantoro — Ujian Akhir Semester Pembelajaran Mesin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Latar Belakang dan Urgensi Penelitian</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Krisis Angka Putus Kuliah di Perguruan Tinggi</a:t>
            </a:r>
          </a:p>
          <a:p>
            <a:pPr lvl="1">
              <a:spcBef>
                <a:spcPts val="0"/>
              </a:spcBef>
              <a:spcAft>
                <a:spcPts val="1000"/>
              </a:spcAft>
              <a:defRPr sz="1400" b="0">
                <a:solidFill>
                  <a:srgbClr val="CADCFC"/>
                </a:solidFill>
              </a:defRPr>
            </a:pPr>
            <a:r>
              <a:t>Analisis data empiris menunjukkan tingkat putus kuliah mencapai 39% dari total 4.424 mahasiswa pada dataset UCI. Angka ini secara langsung merusak Indikator Kinerja Utama (IKU) institusi, menyebabkan inefisiensi alokasi anggaran, serta memberikan dampak sosio-ekonomi negatif pada masa depan mahasiswa. Masalah dropout menjadi indikator krusial bagi institusi untuk melakukan intervensi dini.</a:t>
            </a:r>
          </a:p>
          <a:p>
            <a:pPr>
              <a:spcBef>
                <a:spcPts val="800"/>
              </a:spcBef>
              <a:spcAft>
                <a:spcPts val="200"/>
              </a:spcAft>
              <a:defRPr sz="1800" b="1">
                <a:solidFill>
                  <a:srgbClr val="FFFFFF"/>
                </a:solidFill>
              </a:defRPr>
            </a:pPr>
            <a:r>
              <a:t>Pengembangan Sistem Deteksi Dini (Early Warning System)</a:t>
            </a:r>
          </a:p>
          <a:p>
            <a:pPr lvl="1">
              <a:spcBef>
                <a:spcPts val="0"/>
              </a:spcBef>
              <a:spcAft>
                <a:spcPts val="1000"/>
              </a:spcAft>
              <a:defRPr sz="1400" b="0">
                <a:solidFill>
                  <a:srgbClr val="CADCFC"/>
                </a:solidFill>
              </a:defRPr>
            </a:pPr>
            <a:r>
              <a:t>Penelitian ini difokuskan untuk membangun model klasifikasi berbasis Machine Learning yang mampu mendeteksi secara proaktif mahasiswa dengan probabilitas tinggi untuk dropout sejak semester awal, sehingga pihak akademik dapat melakukan intervensi pencegahan secara tepat sasaran.</a:t>
            </a:r>
          </a:p>
          <a:p>
            <a:pPr>
              <a:spcBef>
                <a:spcPts val="800"/>
              </a:spcBef>
              <a:spcAft>
                <a:spcPts val="200"/>
              </a:spcAft>
              <a:defRPr sz="1800" b="1">
                <a:solidFill>
                  <a:srgbClr val="FFFFFF"/>
                </a:solidFill>
              </a:defRPr>
            </a:pPr>
            <a:r>
              <a:t>Keselarasan dengan Outcome-Based Education</a:t>
            </a:r>
          </a:p>
          <a:p>
            <a:pPr lvl="1">
              <a:spcBef>
                <a:spcPts val="0"/>
              </a:spcBef>
              <a:spcAft>
                <a:spcPts val="1000"/>
              </a:spcAft>
              <a:defRPr sz="1400" b="0">
                <a:solidFill>
                  <a:srgbClr val="CADCFC"/>
                </a:solidFill>
              </a:defRPr>
            </a:pPr>
            <a:r>
              <a:t>Proyek ini disusun untuk mendemonstrasikan pencapaian CPL-8 (kemampuan analitik dan pemodelan Machine Learning) serta CPL-10 (tanggung jawab etis dalam perancangan dan implementasi kecerdasan buatan) pada program studi informatika.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Dataset dan Pemrosesan Data (Preprocessing)</a:t>
            </a:r>
          </a:p>
        </p:txBody>
      </p:sp>
      <p:sp>
        <p:nvSpPr>
          <p:cNvPr id="3" name="TextBox 2"/>
          <p:cNvSpPr txBox="1"/>
          <p:nvPr/>
        </p:nvSpPr>
        <p:spPr>
          <a:xfrm>
            <a:off x="731520" y="1280160"/>
            <a:ext cx="5669280" cy="5029200"/>
          </a:xfrm>
          <a:prstGeom prst="rect">
            <a:avLst/>
          </a:prstGeom>
          <a:noFill/>
        </p:spPr>
        <p:txBody>
          <a:bodyPr wrap="square">
            <a:spAutoFit/>
          </a:bodyPr>
          <a:lstStyle/>
          <a:p/>
          <a:p>
            <a:pPr>
              <a:spcBef>
                <a:spcPts val="600"/>
              </a:spcBef>
              <a:spcAft>
                <a:spcPts val="200"/>
              </a:spcAft>
              <a:defRPr sz="1600" b="1">
                <a:solidFill>
                  <a:srgbClr val="2C3E50"/>
                </a:solidFill>
              </a:defRPr>
            </a:pPr>
            <a:r>
              <a:t>Sumber Data dan Pra-Pemrosesan Target</a:t>
            </a:r>
          </a:p>
          <a:p>
            <a:pPr lvl="1">
              <a:spcBef>
                <a:spcPts val="0"/>
              </a:spcBef>
              <a:spcAft>
                <a:spcPts val="800"/>
              </a:spcAft>
              <a:defRPr sz="1300" b="0">
                <a:solidFill>
                  <a:srgbClr val="555555"/>
                </a:solidFill>
              </a:defRPr>
            </a:pPr>
            <a:r>
              <a:t>Dataset bersumber dari UCI Machine Learning Repository. Observasi dengan status 'Enrolled' disaring keluar untuk memformulasikan masalah sebagai klasifikasi biner, menghasilkan 3.630 baris data valid: Graduate (61.1%) vs Dropout (38.9%).</a:t>
            </a:r>
          </a:p>
          <a:p>
            <a:pPr>
              <a:spcBef>
                <a:spcPts val="600"/>
              </a:spcBef>
              <a:spcAft>
                <a:spcPts val="200"/>
              </a:spcAft>
              <a:defRPr sz="1600" b="1">
                <a:solidFill>
                  <a:srgbClr val="2C3E50"/>
                </a:solidFill>
              </a:defRPr>
            </a:pPr>
            <a:r>
              <a:t>Seleksi Fitur dengan Mutual Information</a:t>
            </a:r>
          </a:p>
          <a:p>
            <a:pPr lvl="1">
              <a:spcBef>
                <a:spcPts val="0"/>
              </a:spcBef>
              <a:spcAft>
                <a:spcPts val="800"/>
              </a:spcAft>
              <a:defRPr sz="1300" b="0">
                <a:solidFill>
                  <a:srgbClr val="555555"/>
                </a:solidFill>
              </a:defRPr>
            </a:pPr>
            <a:r>
              <a:t>Fitur dipilih menggunakan skor Mutual Information untuk menyaring 10 variabel paling prediktif, termasuk indeks prestasi, riwayat SKS, status pembayaran UKT, dan penerimaan beasiswa. 10 fitur ini terbukti memberikan kontribusi informasi tertinggi terhadap variabel target.</a:t>
            </a:r>
          </a:p>
          <a:p>
            <a:pPr>
              <a:spcBef>
                <a:spcPts val="600"/>
              </a:spcBef>
              <a:spcAft>
                <a:spcPts val="200"/>
              </a:spcAft>
              <a:defRPr sz="1600" b="1">
                <a:solidFill>
                  <a:srgbClr val="2C3E50"/>
                </a:solidFill>
              </a:defRPr>
            </a:pPr>
            <a:r>
              <a:t>Stratified Splitting dan Normalisasi</a:t>
            </a:r>
          </a:p>
          <a:p>
            <a:pPr lvl="1">
              <a:spcBef>
                <a:spcPts val="0"/>
              </a:spcBef>
              <a:spcAft>
                <a:spcPts val="800"/>
              </a:spcAft>
              <a:defRPr sz="1300" b="0">
                <a:solidFill>
                  <a:srgbClr val="555555"/>
                </a:solidFill>
              </a:defRPr>
            </a:pPr>
            <a:r>
              <a:t>Data dibagi 80:20 secara stratified. Fitur numerik distandardisasi menggunakan StandardScaler agar algoritma berbasis jarak (KNN, SVM) tidak mengalami bias dimensi.</a:t>
            </a:r>
          </a:p>
          <a:p>
            <a:pPr>
              <a:spcBef>
                <a:spcPts val="600"/>
              </a:spcBef>
              <a:spcAft>
                <a:spcPts val="200"/>
              </a:spcAft>
              <a:defRPr sz="1600" b="1">
                <a:solidFill>
                  <a:srgbClr val="2C3E50"/>
                </a:solidFill>
              </a:defRPr>
            </a:pPr>
            <a:r>
              <a:t>Penanganan Ketidakseimbangan Kelas (SMOTE)</a:t>
            </a:r>
          </a:p>
          <a:p>
            <a:pPr lvl="1">
              <a:spcBef>
                <a:spcPts val="0"/>
              </a:spcBef>
              <a:spcAft>
                <a:spcPts val="800"/>
              </a:spcAft>
              <a:defRPr sz="1300" b="0">
                <a:solidFill>
                  <a:srgbClr val="555555"/>
                </a:solidFill>
              </a:defRPr>
            </a:pPr>
            <a:r>
              <a:t>SMOTE diterapkan eksklusif pada data latih untuk menyeimbangkan kelas minoritas secara sintetis, menjaga integritas evaluasi pada data test.</a:t>
            </a:r>
          </a:p>
        </p:txBody>
      </p:sp>
      <p:pic>
        <p:nvPicPr>
          <p:cNvPr id="4" name="Picture 3" descr="target_distribution.png"/>
          <p:cNvPicPr>
            <a:picLocks noChangeAspect="1"/>
          </p:cNvPicPr>
          <p:nvPr/>
        </p:nvPicPr>
        <p:blipFill>
          <a:blip r:embed="rId2"/>
          <a:stretch>
            <a:fillRect/>
          </a:stretch>
        </p:blipFill>
        <p:spPr>
          <a:xfrm>
            <a:off x="6858000" y="1097280"/>
            <a:ext cx="4754880" cy="2358163"/>
          </a:xfrm>
          <a:prstGeom prst="rect">
            <a:avLst/>
          </a:prstGeom>
        </p:spPr>
      </p:pic>
      <p:pic>
        <p:nvPicPr>
          <p:cNvPr id="5" name="Picture 4" descr="feature_importance_mi.png"/>
          <p:cNvPicPr>
            <a:picLocks noChangeAspect="1"/>
          </p:cNvPicPr>
          <p:nvPr/>
        </p:nvPicPr>
        <p:blipFill>
          <a:blip r:embed="rId3"/>
          <a:stretch>
            <a:fillRect/>
          </a:stretch>
        </p:blipFill>
        <p:spPr>
          <a:xfrm>
            <a:off x="6858000" y="3840480"/>
            <a:ext cx="4754880" cy="265098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Desain Eksperimen dan Strategi Optimasi</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Algoritma Klasifikasi yang Diuji</a:t>
            </a:r>
          </a:p>
          <a:p>
            <a:pPr lvl="1">
              <a:spcBef>
                <a:spcPts val="0"/>
              </a:spcBef>
              <a:spcAft>
                <a:spcPts val="1000"/>
              </a:spcAft>
              <a:defRPr sz="1400" b="0">
                <a:solidFill>
                  <a:srgbClr val="CADCFC"/>
                </a:solidFill>
              </a:defRPr>
            </a:pPr>
            <a:r>
              <a:t>Penelitian ini membandingkan tiga algoritma fundamental: K-Nearest Neighbors (KNN), Naive Bayes (GaussianNB), dan Support Vector Machine (SVM). Setiap model dikonfigurasi dengan parameter awal standar sebagai garis ukur baseline.</a:t>
            </a:r>
          </a:p>
          <a:p>
            <a:pPr>
              <a:spcBef>
                <a:spcPts val="800"/>
              </a:spcBef>
              <a:spcAft>
                <a:spcPts val="200"/>
              </a:spcAft>
              <a:defRPr sz="1800" b="1">
                <a:solidFill>
                  <a:srgbClr val="FFFFFF"/>
                </a:solidFill>
              </a:defRPr>
            </a:pPr>
            <a:r>
              <a:t>Empat Strategi Optimasi yang Diterapkan</a:t>
            </a:r>
          </a:p>
          <a:p>
            <a:pPr lvl="1">
              <a:spcBef>
                <a:spcPts val="0"/>
              </a:spcBef>
              <a:spcAft>
                <a:spcPts val="1000"/>
              </a:spcAft>
              <a:defRPr sz="1400" b="0">
                <a:solidFill>
                  <a:srgbClr val="CADCFC"/>
                </a:solidFill>
              </a:defRPr>
            </a:pPr>
            <a:r>
              <a:t>1. Penyetelan Hyperparameter: GridSearchCV menguji kombinasi parameter secara ekstensif untuk setiap model.</a:t>
            </a:r>
            <a:br/>
            <a:r>
              <a:t>2. Validasi Silang: 5-Fold Stratified Cross Validation mencegah overfitting dan memastikan keandalan metrik.</a:t>
            </a:r>
            <a:br/>
            <a:r>
              <a:t>3. Seleksi Fitur: Reduksi dimensi berbasis signifikansi statistik Mutual Information.</a:t>
            </a:r>
            <a:br/>
            <a:r>
              <a:t>4. Balancing Dataset: SMOTE oversampling untuk menyeimbangkan proporsi kelas.</a:t>
            </a:r>
          </a:p>
          <a:p>
            <a:pPr>
              <a:spcBef>
                <a:spcPts val="800"/>
              </a:spcBef>
              <a:spcAft>
                <a:spcPts val="200"/>
              </a:spcAft>
              <a:defRPr sz="1800" b="1">
                <a:solidFill>
                  <a:srgbClr val="FFFFFF"/>
                </a:solidFill>
              </a:defRPr>
            </a:pPr>
            <a:r>
              <a:t>Pemilihan Metrik Evaluasi</a:t>
            </a:r>
          </a:p>
          <a:p>
            <a:pPr lvl="1">
              <a:spcBef>
                <a:spcPts val="0"/>
              </a:spcBef>
              <a:spcAft>
                <a:spcPts val="1000"/>
              </a:spcAft>
              <a:defRPr sz="1400" b="0">
                <a:solidFill>
                  <a:srgbClr val="CADCFC"/>
                </a:solidFill>
              </a:defRPr>
            </a:pPr>
            <a:r>
              <a:t>Mengingat distribusi data tidak seimbang, metrik evaluasi prioritas adalah F1-Macro dan Balanced Accuracy. Kedua metrik ini menilai keadilan model terhadap kedua kelas target secara setara, sehingga tidak bias terhadap kelas mayoritas.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Hasil Eksperimen Komparatif</a:t>
            </a:r>
          </a:p>
        </p:txBody>
      </p:sp>
      <p:graphicFrame>
        <p:nvGraphicFramePr>
          <p:cNvPr id="3" name="Table 2"/>
          <p:cNvGraphicFramePr>
            <a:graphicFrameLocks noGrp="1"/>
          </p:cNvGraphicFramePr>
          <p:nvPr/>
        </p:nvGraphicFramePr>
        <p:xfrm>
          <a:off x="731520" y="1371600"/>
          <a:ext cx="5303520" cy="3200400"/>
        </p:xfrm>
        <a:graphic>
          <a:graphicData uri="http://schemas.openxmlformats.org/drawingml/2006/table">
            <a:tbl>
              <a:tblPr firstRow="1" bandRow="1">
                <a:tableStyleId>{5C22544A-7EE6-4342-B048-85BDC9FD1C3A}</a:tableStyleId>
              </a:tblPr>
              <a:tblGrid>
                <a:gridCol w="2926080"/>
                <a:gridCol w="1188720"/>
                <a:gridCol w="1188720"/>
              </a:tblGrid>
              <a:tr h="457200">
                <a:tc>
                  <a:txBody>
                    <a:bodyPr/>
                    <a:lstStyle/>
                    <a:p>
                      <a:pPr algn="l">
                        <a:defRPr sz="1200" b="1">
                          <a:solidFill>
                            <a:srgbClr val="FFFFFF"/>
                          </a:solidFill>
                        </a:defRPr>
                      </a:pPr>
                      <a:r>
                        <a:t>Model Klasifikasi</a:t>
                      </a:r>
                    </a:p>
                  </a:txBody>
                  <a:tcPr>
                    <a:solidFill>
                      <a:srgbClr val="028090"/>
                    </a:solidFill>
                  </a:tcPr>
                </a:tc>
                <a:tc>
                  <a:txBody>
                    <a:bodyPr/>
                    <a:lstStyle/>
                    <a:p>
                      <a:pPr algn="ctr">
                        <a:defRPr sz="1200" b="1">
                          <a:solidFill>
                            <a:srgbClr val="FFFFFF"/>
                          </a:solidFill>
                        </a:defRPr>
                      </a:pPr>
                      <a:r>
                        <a:t>F1-Macro</a:t>
                      </a:r>
                    </a:p>
                  </a:txBody>
                  <a:tcPr>
                    <a:solidFill>
                      <a:srgbClr val="028090"/>
                    </a:solidFill>
                  </a:tcPr>
                </a:tc>
                <a:tc>
                  <a:txBody>
                    <a:bodyPr/>
                    <a:lstStyle/>
                    <a:p>
                      <a:pPr algn="ctr">
                        <a:defRPr sz="1200" b="1">
                          <a:solidFill>
                            <a:srgbClr val="FFFFFF"/>
                          </a:solidFill>
                        </a:defRPr>
                      </a:pPr>
                      <a:r>
                        <a:t>Accuracy</a:t>
                      </a:r>
                    </a:p>
                  </a:txBody>
                  <a:tcPr>
                    <a:solidFill>
                      <a:srgbClr val="028090"/>
                    </a:solidFill>
                  </a:tcPr>
                </a:tc>
              </a:tr>
              <a:tr h="457200">
                <a:tc>
                  <a:txBody>
                    <a:bodyPr/>
                    <a:lstStyle/>
                    <a:p>
                      <a:pPr algn="l">
                        <a:defRPr sz="1200"/>
                      </a:pPr>
                      <a:r>
                        <a:t>KNN Baseline</a:t>
                      </a:r>
                    </a:p>
                  </a:txBody>
                  <a:tcPr/>
                </a:tc>
                <a:tc>
                  <a:txBody>
                    <a:bodyPr/>
                    <a:lstStyle/>
                    <a:p>
                      <a:pPr algn="ctr">
                        <a:defRPr sz="1200"/>
                      </a:pPr>
                      <a:r>
                        <a:t>0.869</a:t>
                      </a:r>
                    </a:p>
                  </a:txBody>
                  <a:tcPr/>
                </a:tc>
                <a:tc>
                  <a:txBody>
                    <a:bodyPr/>
                    <a:lstStyle/>
                    <a:p>
                      <a:pPr algn="ctr">
                        <a:defRPr sz="1200"/>
                      </a:pPr>
                      <a:r>
                        <a:t>0.879</a:t>
                      </a:r>
                    </a:p>
                  </a:txBody>
                  <a:tcPr/>
                </a:tc>
              </a:tr>
              <a:tr h="457200">
                <a:tc>
                  <a:txBody>
                    <a:bodyPr/>
                    <a:lstStyle/>
                    <a:p>
                      <a:pPr algn="l">
                        <a:defRPr sz="1200"/>
                      </a:pPr>
                      <a:r>
                        <a:t>Naive Bayes Baseline</a:t>
                      </a:r>
                    </a:p>
                  </a:txBody>
                  <a:tcPr>
                    <a:solidFill>
                      <a:srgbClr val="F9F9F9"/>
                    </a:solidFill>
                  </a:tcPr>
                </a:tc>
                <a:tc>
                  <a:txBody>
                    <a:bodyPr/>
                    <a:lstStyle/>
                    <a:p>
                      <a:pPr algn="ctr">
                        <a:defRPr sz="1200"/>
                      </a:pPr>
                      <a:r>
                        <a:t>0.829</a:t>
                      </a:r>
                    </a:p>
                  </a:txBody>
                  <a:tcPr>
                    <a:solidFill>
                      <a:srgbClr val="F9F9F9"/>
                    </a:solidFill>
                  </a:tcPr>
                </a:tc>
                <a:tc>
                  <a:txBody>
                    <a:bodyPr/>
                    <a:lstStyle/>
                    <a:p>
                      <a:pPr algn="ctr">
                        <a:defRPr sz="1200"/>
                      </a:pPr>
                      <a:r>
                        <a:t>0.844</a:t>
                      </a:r>
                    </a:p>
                  </a:txBody>
                  <a:tcPr>
                    <a:solidFill>
                      <a:srgbClr val="F9F9F9"/>
                    </a:solidFill>
                  </a:tcPr>
                </a:tc>
              </a:tr>
              <a:tr h="457200">
                <a:tc>
                  <a:txBody>
                    <a:bodyPr/>
                    <a:lstStyle/>
                    <a:p>
                      <a:pPr algn="l">
                        <a:defRPr sz="1200" b="1"/>
                      </a:pPr>
                      <a:r>
                        <a:t>SVM Baseline</a:t>
                      </a:r>
                    </a:p>
                  </a:txBody>
                  <a:tcPr>
                    <a:solidFill>
                      <a:srgbClr val="D5F5E3"/>
                    </a:solidFill>
                  </a:tcPr>
                </a:tc>
                <a:tc>
                  <a:txBody>
                    <a:bodyPr/>
                    <a:lstStyle/>
                    <a:p>
                      <a:pPr algn="ctr">
                        <a:defRPr sz="1200" b="1"/>
                      </a:pPr>
                      <a:r>
                        <a:t>0.887</a:t>
                      </a:r>
                    </a:p>
                  </a:txBody>
                  <a:tcPr>
                    <a:solidFill>
                      <a:srgbClr val="D5F5E3"/>
                    </a:solidFill>
                  </a:tcPr>
                </a:tc>
                <a:tc>
                  <a:txBody>
                    <a:bodyPr/>
                    <a:lstStyle/>
                    <a:p>
                      <a:pPr algn="ctr">
                        <a:defRPr sz="1200" b="1"/>
                      </a:pPr>
                      <a:r>
                        <a:t>0.894</a:t>
                      </a:r>
                    </a:p>
                  </a:txBody>
                  <a:tcPr>
                    <a:solidFill>
                      <a:srgbClr val="D5F5E3"/>
                    </a:solidFill>
                  </a:tcPr>
                </a:tc>
              </a:tr>
              <a:tr h="457200">
                <a:tc>
                  <a:txBody>
                    <a:bodyPr/>
                    <a:lstStyle/>
                    <a:p>
                      <a:pPr algn="l">
                        <a:defRPr sz="1200"/>
                      </a:pPr>
                      <a:r>
                        <a:t>KNN Optimized</a:t>
                      </a:r>
                    </a:p>
                  </a:txBody>
                  <a:tcPr>
                    <a:solidFill>
                      <a:srgbClr val="F9F9F9"/>
                    </a:solidFill>
                  </a:tcPr>
                </a:tc>
                <a:tc>
                  <a:txBody>
                    <a:bodyPr/>
                    <a:lstStyle/>
                    <a:p>
                      <a:pPr algn="ctr">
                        <a:defRPr sz="1200"/>
                      </a:pPr>
                      <a:r>
                        <a:t>0.876</a:t>
                      </a:r>
                    </a:p>
                  </a:txBody>
                  <a:tcPr>
                    <a:solidFill>
                      <a:srgbClr val="F9F9F9"/>
                    </a:solidFill>
                  </a:tcPr>
                </a:tc>
                <a:tc>
                  <a:txBody>
                    <a:bodyPr/>
                    <a:lstStyle/>
                    <a:p>
                      <a:pPr algn="ctr">
                        <a:defRPr sz="1200"/>
                      </a:pPr>
                      <a:r>
                        <a:t>0.884</a:t>
                      </a:r>
                    </a:p>
                  </a:txBody>
                  <a:tcPr>
                    <a:solidFill>
                      <a:srgbClr val="F9F9F9"/>
                    </a:solidFill>
                  </a:tcPr>
                </a:tc>
              </a:tr>
              <a:tr h="457200">
                <a:tc>
                  <a:txBody>
                    <a:bodyPr/>
                    <a:lstStyle/>
                    <a:p>
                      <a:pPr algn="l">
                        <a:defRPr sz="1200"/>
                      </a:pPr>
                      <a:r>
                        <a:t>Naive Bayes Optimized</a:t>
                      </a:r>
                    </a:p>
                  </a:txBody>
                  <a:tcPr/>
                </a:tc>
                <a:tc>
                  <a:txBody>
                    <a:bodyPr/>
                    <a:lstStyle/>
                    <a:p>
                      <a:pPr algn="ctr">
                        <a:defRPr sz="1200"/>
                      </a:pPr>
                      <a:r>
                        <a:t>0.838</a:t>
                      </a:r>
                    </a:p>
                  </a:txBody>
                  <a:tcPr/>
                </a:tc>
                <a:tc>
                  <a:txBody>
                    <a:bodyPr/>
                    <a:lstStyle/>
                    <a:p>
                      <a:pPr algn="ctr">
                        <a:defRPr sz="1200"/>
                      </a:pPr>
                      <a:r>
                        <a:t>0.853</a:t>
                      </a:r>
                    </a:p>
                  </a:txBody>
                  <a:tcPr/>
                </a:tc>
              </a:tr>
              <a:tr h="457200">
                <a:tc>
                  <a:txBody>
                    <a:bodyPr/>
                    <a:lstStyle/>
                    <a:p>
                      <a:pPr algn="l">
                        <a:defRPr sz="1200"/>
                      </a:pPr>
                      <a:r>
                        <a:t>SVM Optimized</a:t>
                      </a:r>
                    </a:p>
                  </a:txBody>
                  <a:tcPr>
                    <a:solidFill>
                      <a:srgbClr val="F9F9F9"/>
                    </a:solidFill>
                  </a:tcPr>
                </a:tc>
                <a:tc>
                  <a:txBody>
                    <a:bodyPr/>
                    <a:lstStyle/>
                    <a:p>
                      <a:pPr algn="ctr">
                        <a:defRPr sz="1200"/>
                      </a:pPr>
                      <a:r>
                        <a:t>0.884</a:t>
                      </a:r>
                    </a:p>
                  </a:txBody>
                  <a:tcPr>
                    <a:solidFill>
                      <a:srgbClr val="F9F9F9"/>
                    </a:solidFill>
                  </a:tcPr>
                </a:tc>
                <a:tc>
                  <a:txBody>
                    <a:bodyPr/>
                    <a:lstStyle/>
                    <a:p>
                      <a:pPr algn="ctr">
                        <a:defRPr sz="1200"/>
                      </a:pPr>
                      <a:r>
                        <a:t>0.891</a:t>
                      </a:r>
                    </a:p>
                  </a:txBody>
                  <a:tcPr>
                    <a:solidFill>
                      <a:srgbClr val="F9F9F9"/>
                    </a:solidFill>
                  </a:tcPr>
                </a:tc>
              </a:tr>
            </a:tbl>
          </a:graphicData>
        </a:graphic>
      </p:graphicFrame>
      <p:pic>
        <p:nvPicPr>
          <p:cNvPr id="4" name="Picture 3" descr="performance_comparison.png"/>
          <p:cNvPicPr>
            <a:picLocks noChangeAspect="1"/>
          </p:cNvPicPr>
          <p:nvPr/>
        </p:nvPicPr>
        <p:blipFill>
          <a:blip r:embed="rId2"/>
          <a:stretch>
            <a:fillRect/>
          </a:stretch>
        </p:blipFill>
        <p:spPr>
          <a:xfrm>
            <a:off x="6400800" y="1188720"/>
            <a:ext cx="5029200" cy="2828925"/>
          </a:xfrm>
          <a:prstGeom prst="rect">
            <a:avLst/>
          </a:prstGeom>
        </p:spPr>
      </p:pic>
      <p:pic>
        <p:nvPicPr>
          <p:cNvPr id="5" name="Picture 4" descr="roc_curve_comparison.png"/>
          <p:cNvPicPr>
            <a:picLocks noChangeAspect="1"/>
          </p:cNvPicPr>
          <p:nvPr/>
        </p:nvPicPr>
        <p:blipFill>
          <a:blip r:embed="rId3"/>
          <a:stretch>
            <a:fillRect/>
          </a:stretch>
        </p:blipFill>
        <p:spPr>
          <a:xfrm>
            <a:off x="6400800" y="3840480"/>
            <a:ext cx="5029200" cy="4294762"/>
          </a:xfrm>
          <a:prstGeom prst="rect">
            <a:avLst/>
          </a:prstGeom>
        </p:spPr>
      </p:pic>
      <p:sp>
        <p:nvSpPr>
          <p:cNvPr id="6" name="TextBox 5"/>
          <p:cNvSpPr txBox="1"/>
          <p:nvPr/>
        </p:nvSpPr>
        <p:spPr>
          <a:xfrm>
            <a:off x="731520" y="4937760"/>
            <a:ext cx="5486400" cy="1371600"/>
          </a:xfrm>
          <a:prstGeom prst="rect">
            <a:avLst/>
          </a:prstGeom>
          <a:noFill/>
        </p:spPr>
        <p:txBody>
          <a:bodyPr wrap="none">
            <a:spAutoFit/>
          </a:bodyPr>
          <a:lstStyle/>
          <a:p/>
          <a:p>
            <a:pPr>
              <a:spcBef>
                <a:spcPts val="0"/>
              </a:spcBef>
              <a:spcAft>
                <a:spcPts val="200"/>
              </a:spcAft>
              <a:defRPr sz="1300" b="1">
                <a:solidFill>
                  <a:srgbClr val="2C3E50"/>
                </a:solidFill>
              </a:defRPr>
            </a:pPr>
            <a:r>
              <a:t>Model Terbaik: SVM Baseline (F1=0.887, AUC=0.94)</a:t>
            </a:r>
          </a:p>
          <a:p>
            <a:pPr>
              <a:spcBef>
                <a:spcPts val="0"/>
              </a:spcBef>
              <a:spcAft>
                <a:spcPts val="0"/>
              </a:spcAft>
              <a:defRPr sz="1100" b="0">
                <a:solidFill>
                  <a:srgbClr val="555555"/>
                </a:solidFill>
              </a:defRPr>
            </a:pPr>
            <a:r>
              <a:t>Kernel RBF dan class_weight=balanced menghasilkan F1-Macro tertinggi. SVM Optimized (0.884) mengalami sedikit degradasi karena pengurangan fitur dari 10 menjadi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Analisis Kesalahan Empiris (Error Analysis)</a:t>
            </a:r>
          </a:p>
        </p:txBody>
      </p:sp>
      <p:sp>
        <p:nvSpPr>
          <p:cNvPr id="3" name="TextBox 2"/>
          <p:cNvSpPr txBox="1"/>
          <p:nvPr/>
        </p:nvSpPr>
        <p:spPr>
          <a:xfrm>
            <a:off x="731520" y="1371600"/>
            <a:ext cx="5486400" cy="5029200"/>
          </a:xfrm>
          <a:prstGeom prst="rect">
            <a:avLst/>
          </a:prstGeom>
          <a:noFill/>
        </p:spPr>
        <p:txBody>
          <a:bodyPr wrap="square">
            <a:spAutoFit/>
          </a:bodyPr>
          <a:lstStyle/>
          <a:p/>
          <a:p>
            <a:pPr>
              <a:spcBef>
                <a:spcPts val="600"/>
              </a:spcBef>
              <a:spcAft>
                <a:spcPts val="200"/>
              </a:spcAft>
              <a:defRPr sz="1500" b="1">
                <a:solidFill>
                  <a:srgbClr val="2C3E50"/>
                </a:solidFill>
              </a:defRPr>
            </a:pPr>
            <a:r>
              <a:t>Distribusi Kesalahan Prediksi</a:t>
            </a:r>
          </a:p>
          <a:p>
            <a:pPr lvl="1">
              <a:spcBef>
                <a:spcPts val="0"/>
              </a:spcBef>
              <a:spcAft>
                <a:spcPts val="800"/>
              </a:spcAft>
              <a:defRPr sz="1300" b="0">
                <a:solidFill>
                  <a:srgbClr val="555555"/>
                </a:solidFill>
              </a:defRPr>
            </a:pPr>
            <a:r>
              <a:t>Berdasarkan Confusion Matrix SVM Baseline:</a:t>
            </a:r>
            <a:br/>
            <a:r>
              <a:t>- True Positive (Graduate benar): 415</a:t>
            </a:r>
            <a:br/>
            <a:r>
              <a:t>- True Negative (Dropout benar): 234</a:t>
            </a:r>
            <a:br/>
            <a:r>
              <a:t>- False Positive (Dropout salah prediksi Graduate): 50</a:t>
            </a:r>
            <a:br/>
            <a:r>
              <a:t>- False Negative (Graduate salah prediksi Dropout): 27</a:t>
            </a:r>
          </a:p>
          <a:p>
            <a:pPr>
              <a:spcBef>
                <a:spcPts val="600"/>
              </a:spcBef>
              <a:spcAft>
                <a:spcPts val="200"/>
              </a:spcAft>
              <a:defRPr sz="1500" b="1">
                <a:solidFill>
                  <a:srgbClr val="2C3E50"/>
                </a:solidFill>
              </a:defRPr>
            </a:pPr>
            <a:r>
              <a:t>Pola Kesalahan yang Teridentifikasi</a:t>
            </a:r>
          </a:p>
          <a:p>
            <a:pPr lvl="1">
              <a:spcBef>
                <a:spcPts val="0"/>
              </a:spcBef>
              <a:spcAft>
                <a:spcPts val="800"/>
              </a:spcAft>
              <a:defRPr sz="1300" b="0">
                <a:solidFill>
                  <a:srgbClr val="555555"/>
                </a:solidFill>
              </a:defRPr>
            </a:pPr>
            <a:r>
              <a:t>Penyelidikan terhadap 50 kasus False Positive menunjukkan pola konsisten: mahasiswa dengan nilai akademis memuaskan di semester 1-2 namun tetap mengalami dropout. Model gagal mendeteksi karena penurunan performa terjadi pada semester selanjutnya.</a:t>
            </a:r>
          </a:p>
          <a:p>
            <a:pPr>
              <a:spcBef>
                <a:spcPts val="600"/>
              </a:spcBef>
              <a:spcAft>
                <a:spcPts val="200"/>
              </a:spcAft>
              <a:defRPr sz="1500" b="1">
                <a:solidFill>
                  <a:srgbClr val="2C3E50"/>
                </a:solidFill>
              </a:defRPr>
            </a:pPr>
            <a:r>
              <a:t>Keterbatasan Fundamental Model</a:t>
            </a:r>
          </a:p>
          <a:p>
            <a:pPr lvl="1">
              <a:spcBef>
                <a:spcPts val="0"/>
              </a:spcBef>
              <a:spcAft>
                <a:spcPts val="800"/>
              </a:spcAft>
              <a:defRPr sz="1300" b="0">
                <a:solidFill>
                  <a:srgbClr val="555555"/>
                </a:solidFill>
              </a:defRPr>
            </a:pPr>
            <a:r>
              <a:t>Dropout pada mahasiswa berprestasi sering dipicu oleh faktor non-akademik (ekonomi, kesehatan, keluarga) yang tidak terekam dalam dataset tabular akademis. Ini membuktikan bahwa model memerlukan suplementasi data non-akademik untuk peningkatan performa.</a:t>
            </a:r>
          </a:p>
        </p:txBody>
      </p:sp>
      <p:pic>
        <p:nvPicPr>
          <p:cNvPr id="4" name="Picture 3" descr="confusion_matrix.png"/>
          <p:cNvPicPr>
            <a:picLocks noChangeAspect="1"/>
          </p:cNvPicPr>
          <p:nvPr/>
        </p:nvPicPr>
        <p:blipFill>
          <a:blip r:embed="rId2"/>
          <a:stretch>
            <a:fillRect/>
          </a:stretch>
        </p:blipFill>
        <p:spPr>
          <a:xfrm>
            <a:off x="6766560" y="1371600"/>
            <a:ext cx="4389120" cy="36576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Pembahasan Analitis dan Implikasi Praktis</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Trade-off Performa dan Interpretabilitas</a:t>
            </a:r>
          </a:p>
          <a:p>
            <a:pPr lvl="1">
              <a:spcBef>
                <a:spcPts val="0"/>
              </a:spcBef>
              <a:spcAft>
                <a:spcPts val="1000"/>
              </a:spcAft>
              <a:defRPr sz="1400" b="0">
                <a:solidFill>
                  <a:srgbClr val="CADCFC"/>
                </a:solidFill>
              </a:defRPr>
            </a:pPr>
            <a:r>
              <a:t>Evaluasi menyoroti keseimbangan dalam machine learning: SVM RBF menghasilkan presisi tertinggi (F1-Macro 0.887) namun bersifat black-box. Naive Bayes transparan secara statistik namun recall dropout rendah. KNN intuitif tetapi sensitif terhadap noise dan penentuan parameter K.</a:t>
            </a:r>
          </a:p>
          <a:p>
            <a:pPr>
              <a:spcBef>
                <a:spcPts val="800"/>
              </a:spcBef>
              <a:spcAft>
                <a:spcPts val="200"/>
              </a:spcAft>
              <a:defRPr sz="1800" b="1">
                <a:solidFill>
                  <a:srgbClr val="FFFFFF"/>
                </a:solidFill>
              </a:defRPr>
            </a:pPr>
            <a:r>
              <a:t>Implikasi Strategis bagi Institusi</a:t>
            </a:r>
          </a:p>
          <a:p>
            <a:pPr lvl="1">
              <a:spcBef>
                <a:spcPts val="0"/>
              </a:spcBef>
              <a:spcAft>
                <a:spcPts val="1000"/>
              </a:spcAft>
              <a:defRPr sz="1400" b="0">
                <a:solidFill>
                  <a:srgbClr val="CADCFC"/>
                </a:solidFill>
              </a:defRPr>
            </a:pPr>
            <a:r>
              <a:t>Model ini layak menjadi komponen inti Early Warning System. Mahasiswa terancam dapat segera dialokasikan ke program intervensi preventif: konseling akademik intensif, bantuan finansial, atau program mentoring. Pendekatan proaktif ini terbukti menurunkan angka dropout secara signifikan di universitas yang sudah menerapkannya.</a:t>
            </a:r>
          </a:p>
          <a:p>
            <a:pPr>
              <a:spcBef>
                <a:spcPts val="1200"/>
              </a:spcBef>
              <a:spcAft>
                <a:spcPts val="200"/>
              </a:spcAft>
              <a:defRPr sz="1600" b="1">
                <a:solidFill>
                  <a:srgbClr val="C0392B"/>
                </a:solidFill>
              </a:defRPr>
            </a:pPr>
            <a:r>
              <a:t>Batasan Etis Implementasi</a:t>
            </a:r>
          </a:p>
          <a:p>
            <a:pPr lvl="1">
              <a:spcBef>
                <a:spcPts val="0"/>
              </a:spcBef>
              <a:spcAft>
                <a:spcPts val="1000"/>
              </a:spcAft>
              <a:defRPr sz="1300" b="0">
                <a:solidFill>
                  <a:srgbClr val="CADCFC"/>
                </a:solidFill>
              </a:defRPr>
            </a:pPr>
            <a:r>
              <a:t>Model ini dikonstruksi secara eksklusif sebagai Decision Support System. Kebijakan akademik yang memengaruhi nasib mahasiswa dilarang dieksekusi otomatis oleh algoritma. Validasi otoritas tenaga pendidik tetap bersifat mutlak dalam setiap tahapan pengambilan keputusan.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Desain Aplikasi Antarmuka Pengguna</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600"/>
              </a:spcBef>
              <a:spcAft>
                <a:spcPts val="200"/>
              </a:spcAft>
              <a:defRPr sz="1600" b="1">
                <a:solidFill>
                  <a:srgbClr val="2C3E50"/>
                </a:solidFill>
              </a:defRPr>
            </a:pPr>
            <a:r>
              <a:t>Arsitektur Frontend Streamlit</a:t>
            </a:r>
          </a:p>
          <a:p>
            <a:pPr lvl="1">
              <a:spcBef>
                <a:spcPts val="0"/>
              </a:spcBef>
              <a:spcAft>
                <a:spcPts val="1000"/>
              </a:spcAft>
              <a:defRPr sz="1400" b="0">
                <a:solidFill>
                  <a:srgbClr val="555555"/>
                </a:solidFill>
              </a:defRPr>
            </a:pPr>
            <a:r>
              <a:t>Dashboard web dikembangkan dengan empat struktur panel: (1) Mesin Prediksi Interaktif dengan 10 input sidebar dan output confidence score, (2) Panel Visualisasi Eksploratori Dataset, (3) Laporan Integritas Metrik Evaluasi dengan grafik perbandingan, dan (4) Dokumentasi Edukasi Model secara naratif.</a:t>
            </a:r>
          </a:p>
          <a:p>
            <a:pPr>
              <a:spcBef>
                <a:spcPts val="600"/>
              </a:spcBef>
              <a:spcAft>
                <a:spcPts val="200"/>
              </a:spcAft>
              <a:defRPr sz="1600" b="1">
                <a:solidFill>
                  <a:srgbClr val="2C3E50"/>
                </a:solidFill>
              </a:defRPr>
            </a:pPr>
            <a:r>
              <a:t>Backend Restful API (FastAPI)</a:t>
            </a:r>
          </a:p>
          <a:p>
            <a:pPr lvl="1">
              <a:spcBef>
                <a:spcPts val="0"/>
              </a:spcBef>
              <a:spcAft>
                <a:spcPts val="1000"/>
              </a:spcAft>
              <a:defRPr sz="1400" b="0">
                <a:solidFill>
                  <a:srgbClr val="555555"/>
                </a:solidFill>
              </a:defRPr>
            </a:pPr>
            <a:r>
              <a:t>Infrastruktur inferensi dienkapsulasi menggunakan FastAPI, menghasilkan endpoint /predict berbasis JSON yang terstandardisasi dengan dokumentasi Swagger UI. Arsitektur ini memungkinkan integrasi langsung dengan Sistem Informasi Akademik (SIAKAD) berskala produksi.</a:t>
            </a:r>
          </a:p>
          <a:p>
            <a:pPr>
              <a:spcBef>
                <a:spcPts val="600"/>
              </a:spcBef>
              <a:spcAft>
                <a:spcPts val="200"/>
              </a:spcAft>
              <a:defRPr sz="1600" b="1">
                <a:solidFill>
                  <a:srgbClr val="2C3E50"/>
                </a:solidFill>
              </a:defRPr>
            </a:pPr>
            <a:r>
              <a:t>Antarmuka Alternatif dan Kepatuhan Etika</a:t>
            </a:r>
          </a:p>
          <a:p>
            <a:pPr lvl="1">
              <a:spcBef>
                <a:spcPts val="0"/>
              </a:spcBef>
              <a:spcAft>
                <a:spcPts val="1000"/>
              </a:spcAft>
              <a:defRPr sz="1400" b="0">
                <a:solidFill>
                  <a:srgbClr val="555555"/>
                </a:solidFill>
              </a:defRPr>
            </a:pPr>
            <a:r>
              <a:t>Gradio disediakan sebagai antarmuka minimalis untuk pengujian cepat. Seluruh interface mencantumkan disclaimer etika dan edukasi probabilitas untuk memastikan pengguna memahami bahwa output hanyalah alat bantu, bukan vonis akademis pasti.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Kesimpulan dan Rekomendasi Lanjutan</a:t>
            </a:r>
          </a:p>
        </p:txBody>
      </p:sp>
      <p:sp>
        <p:nvSpPr>
          <p:cNvPr id="3" name="TextBox 2"/>
          <p:cNvSpPr txBox="1"/>
          <p:nvPr/>
        </p:nvSpPr>
        <p:spPr>
          <a:xfrm>
            <a:off x="731520" y="1371600"/>
            <a:ext cx="10698480" cy="4572000"/>
          </a:xfrm>
          <a:prstGeom prst="rect">
            <a:avLst/>
          </a:prstGeom>
          <a:noFill/>
        </p:spPr>
        <p:txBody>
          <a:bodyPr wrap="square">
            <a:spAutoFit/>
          </a:bodyPr>
          <a:lstStyle/>
          <a:p/>
          <a:p>
            <a:pPr>
              <a:spcBef>
                <a:spcPts val="800"/>
              </a:spcBef>
              <a:spcAft>
                <a:spcPts val="200"/>
              </a:spcAft>
              <a:defRPr sz="1800" b="1">
                <a:solidFill>
                  <a:srgbClr val="FFFFFF"/>
                </a:solidFill>
              </a:defRPr>
            </a:pPr>
            <a:r>
              <a:t>Efektivitas Model SVM Baseline</a:t>
            </a:r>
          </a:p>
          <a:p>
            <a:pPr lvl="1">
              <a:spcBef>
                <a:spcPts val="0"/>
              </a:spcBef>
              <a:spcAft>
                <a:spcPts val="1000"/>
              </a:spcAft>
              <a:defRPr sz="1400" b="0">
                <a:solidFill>
                  <a:srgbClr val="CADCFC"/>
                </a:solidFill>
              </a:defRPr>
            </a:pPr>
            <a:r>
              <a:t>Model SVM Baseline dengan kernel RBF mempertahankan superioritas metrik: F1-Macro 0.8869, Akurasi 89.39%, dan AUC 0.94. Reduksi fitur ke 10 variabel utama terbukti mumpuni membentuk batas keputusan yang tangguh tanpa mengorbankan waktu inferensi.</a:t>
            </a:r>
          </a:p>
          <a:p>
            <a:pPr>
              <a:spcBef>
                <a:spcPts val="800"/>
              </a:spcBef>
              <a:spcAft>
                <a:spcPts val="200"/>
              </a:spcAft>
              <a:defRPr sz="1800" b="1">
                <a:solidFill>
                  <a:srgbClr val="FFFFFF"/>
                </a:solidFill>
              </a:defRPr>
            </a:pPr>
            <a:r>
              <a:t>Keterbatasan Generalisasi</a:t>
            </a:r>
          </a:p>
          <a:p>
            <a:pPr lvl="1">
              <a:spcBef>
                <a:spcPts val="0"/>
              </a:spcBef>
              <a:spcAft>
                <a:spcPts val="1000"/>
              </a:spcAft>
              <a:defRPr sz="1400" b="0">
                <a:solidFill>
                  <a:srgbClr val="CADCFC"/>
                </a:solidFill>
              </a:defRPr>
            </a:pPr>
            <a:r>
              <a:t>Validitas model saat ini dibatasi oleh demografi asal data (Portugal). Generalisasi terhadap mahasiswa Indonesia mengharuskan proses kalibrasi ulang, validasi silang lintas budaya, atau penerapan transfer learning domain-adapted.</a:t>
            </a:r>
          </a:p>
          <a:p>
            <a:pPr>
              <a:spcBef>
                <a:spcPts val="800"/>
              </a:spcBef>
              <a:spcAft>
                <a:spcPts val="200"/>
              </a:spcAft>
              <a:defRPr sz="1800" b="1">
                <a:solidFill>
                  <a:srgbClr val="FFFFFF"/>
                </a:solidFill>
              </a:defRPr>
            </a:pPr>
            <a:r>
              <a:t>Rekomendasi Pengembangan</a:t>
            </a:r>
          </a:p>
          <a:p>
            <a:pPr lvl="1">
              <a:spcBef>
                <a:spcPts val="0"/>
              </a:spcBef>
              <a:spcAft>
                <a:spcPts val="1000"/>
              </a:spcAft>
              <a:defRPr sz="1400" b="0">
                <a:solidFill>
                  <a:srgbClr val="CADCFC"/>
                </a:solidFill>
              </a:defRPr>
            </a:pPr>
            <a:r>
              <a:t>1. Integrasikan dataset lokal universitas untuk pelatihan model.</a:t>
            </a:r>
            <a:br/>
            <a:r>
              <a:t>2. Eksplorasi metode Ensemble Stacking (kombinasi SVM, KNN, Random Forest).</a:t>
            </a:r>
            <a:br/>
            <a:r>
              <a:t>3. Implementasi framework Explainable AI (SHAP/LIME) untuk transparansi.</a:t>
            </a:r>
            <a:br/>
            <a:r>
              <a:t>4. Deployment production menggunakan Docker untuk portabilitas.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2761"/>
        </a:solidFill>
        <a:effectLst/>
      </p:bgPr>
    </p:bg>
    <p:spTree>
      <p:nvGrpSpPr>
        <p:cNvPr id="1" name=""/>
        <p:cNvGrpSpPr/>
        <p:nvPr/>
      </p:nvGrpSpPr>
      <p:grpSpPr/>
      <p:sp>
        <p:nvSpPr>
          <p:cNvPr id="2" name="TextBox 1"/>
          <p:cNvSpPr txBox="1"/>
          <p:nvPr/>
        </p:nvSpPr>
        <p:spPr>
          <a:xfrm>
            <a:off x="731520" y="2011680"/>
            <a:ext cx="10698480" cy="2743200"/>
          </a:xfrm>
          <a:prstGeom prst="rect">
            <a:avLst/>
          </a:prstGeom>
          <a:noFill/>
        </p:spPr>
        <p:txBody>
          <a:bodyPr wrap="none">
            <a:spAutoFit/>
          </a:bodyPr>
          <a:lstStyle/>
          <a:p>
            <a:pPr algn="ctr">
              <a:defRPr sz="5400" b="1">
                <a:solidFill>
                  <a:srgbClr val="FFFFFF"/>
                </a:solidFill>
              </a:defRPr>
            </a:pPr>
            <a:r>
              <a:t>TERIMA KASIH</a:t>
            </a:r>
          </a:p>
          <a:p>
            <a:pPr algn="ctr">
              <a:spcBef>
                <a:spcPts val="1500"/>
              </a:spcBef>
              <a:defRPr sz="1600">
                <a:solidFill>
                  <a:srgbClr val="CADCFC"/>
                </a:solidFill>
              </a:defRPr>
            </a:pPr>
            <a:r>
              <a:t>Repositori lengkap (kode, dataset, laporan, dan aplikasi):</a:t>
            </a:r>
          </a:p>
          <a:p>
            <a:pPr algn="ctr">
              <a:spcBef>
                <a:spcPts val="1000"/>
              </a:spcBef>
              <a:defRPr sz="2000" b="1">
                <a:solidFill>
                  <a:srgbClr val="FFFFFF"/>
                </a:solidFill>
              </a:defRPr>
            </a:pPr>
            <a:r>
              <a:t>https://github.com/hafizmuzani011-collab/uas-ml-kelulusan</a:t>
            </a:r>
          </a:p>
          <a:p>
            <a:pPr algn="ctr">
              <a:spcBef>
                <a:spcPts val="3000"/>
              </a:spcBef>
              <a:defRPr sz="1800">
                <a:solidFill>
                  <a:srgbClr val="CADCFC"/>
                </a:solidFill>
              </a:defRPr>
            </a:pPr>
            <a:r>
              <a:t>Wassalamualaikum Warahmatullahi Wabarakatuh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